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0"/>
  </p:notesMasterIdLst>
  <p:sldIdLst>
    <p:sldId id="256" r:id="rId3"/>
    <p:sldId id="257" r:id="rId4"/>
    <p:sldId id="259" r:id="rId5"/>
    <p:sldId id="261" r:id="rId6"/>
    <p:sldId id="262" r:id="rId7"/>
    <p:sldId id="264" r:id="rId8"/>
    <p:sldId id="266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9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5" y="67"/>
      </p:cViewPr>
      <p:guideLst>
        <p:guide orient="horz" pos="162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4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1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3" Type="http://schemas.openxmlformats.org/officeDocument/2006/relationships/tags" Target="../tags/tag21.xml"/><Relationship Id="rId21" Type="http://schemas.openxmlformats.org/officeDocument/2006/relationships/image" Target="../media/image4.png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notesSlide" Target="../notesSlides/notesSlide7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slideLayout" Target="../slideLayouts/slideLayout12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 rot="10800000" flipV="1">
            <a:off x="1905" y="2552700"/>
            <a:ext cx="12202795" cy="2042138"/>
          </a:xfrm>
          <a:custGeom>
            <a:avLst/>
            <a:gdLst/>
            <a:ahLst/>
            <a:cxnLst/>
            <a:rect l="l" t="t" r="r" b="b"/>
            <a:pathLst>
              <a:path w="12202795" h="2042138">
                <a:moveTo>
                  <a:pt x="12202795" y="910101"/>
                </a:moveTo>
                <a:lnTo>
                  <a:pt x="12202795" y="772255"/>
                </a:lnTo>
                <a:cubicBezTo>
                  <a:pt x="10557325" y="1404536"/>
                  <a:pt x="8788555" y="1748352"/>
                  <a:pt x="6946059" y="1748352"/>
                </a:cubicBezTo>
                <a:cubicBezTo>
                  <a:pt x="4455291" y="1748352"/>
                  <a:pt x="2097990" y="1119797"/>
                  <a:pt x="0" y="0"/>
                </a:cubicBezTo>
                <a:lnTo>
                  <a:pt x="0" y="920745"/>
                </a:lnTo>
                <a:cubicBezTo>
                  <a:pt x="1850757" y="1642439"/>
                  <a:pt x="3888369" y="2041606"/>
                  <a:pt x="6028308" y="2041606"/>
                </a:cubicBezTo>
                <a:cubicBezTo>
                  <a:pt x="8224811" y="2042138"/>
                  <a:pt x="10945017" y="1524818"/>
                  <a:pt x="12202795" y="910101"/>
                </a:cubicBezTo>
                <a:close/>
              </a:path>
            </a:pathLst>
          </a:custGeom>
          <a:solidFill>
            <a:srgbClr val="044B8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 rot="10800000" flipV="1">
            <a:off x="1905" y="3429000"/>
            <a:ext cx="12202795" cy="3429000"/>
          </a:xfrm>
          <a:custGeom>
            <a:avLst/>
            <a:gdLst/>
            <a:ahLst/>
            <a:cxnLst/>
            <a:rect l="l" t="t" r="r" b="b"/>
            <a:pathLst>
              <a:path w="12202795" h="3429000">
                <a:moveTo>
                  <a:pt x="12202163" y="0"/>
                </a:moveTo>
                <a:lnTo>
                  <a:pt x="12080655" y="53589"/>
                </a:lnTo>
                <a:cubicBezTo>
                  <a:pt x="10775517" y="607195"/>
                  <a:pt x="8156170" y="1063335"/>
                  <a:pt x="6028308" y="1062850"/>
                </a:cubicBezTo>
                <a:cubicBezTo>
                  <a:pt x="3888369" y="1062850"/>
                  <a:pt x="1850757" y="687805"/>
                  <a:pt x="0" y="9722"/>
                </a:cubicBezTo>
                <a:lnTo>
                  <a:pt x="0" y="3429000"/>
                </a:lnTo>
                <a:lnTo>
                  <a:pt x="12202795" y="3429000"/>
                </a:lnTo>
                <a:lnTo>
                  <a:pt x="1220216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293620" y="4922520"/>
            <a:ext cx="7620000" cy="763270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 dirty="0" err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SDN体系结构与核心设计思想</a:t>
            </a:r>
            <a:endParaRPr lang="en-US" sz="4400" b="1" i="0" u="none" strike="noStrike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911511" y="5841427"/>
            <a:ext cx="8369300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 sz="18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3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韩贤煜  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曾坤  贾杰凡  周靖杭</a:t>
            </a:r>
            <a:endParaRPr lang="zh-CN" altLang="en-US" sz="360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5892801" cy="6858000"/>
          </a:xfrm>
          <a:prstGeom prst="roundRect">
            <a:avLst>
              <a:gd name="adj" fmla="val 0"/>
            </a:avLst>
          </a:prstGeom>
          <a:solidFill>
            <a:srgbClr val="044B89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 rot="5400000" flipV="1">
            <a:off x="1870073" y="-1870071"/>
            <a:ext cx="1238251" cy="4978398"/>
          </a:xfrm>
          <a:prstGeom prst="roundRect">
            <a:avLst>
              <a:gd name="adj" fmla="val 0"/>
            </a:avLst>
          </a:prstGeom>
          <a:solidFill>
            <a:srgbClr val="044B8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5400000">
            <a:off x="1879593" y="3759200"/>
            <a:ext cx="1219201" cy="4978399"/>
          </a:xfrm>
          <a:prstGeom prst="roundRect">
            <a:avLst>
              <a:gd name="adj" fmla="val 0"/>
            </a:avLst>
          </a:prstGeom>
          <a:solidFill>
            <a:srgbClr val="044B8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974246" y="4822836"/>
            <a:ext cx="200570" cy="200570"/>
          </a:xfrm>
          <a:prstGeom prst="ellipse">
            <a:avLst/>
          </a:prstGeom>
          <a:solidFill>
            <a:srgbClr val="FFFFFF">
              <a:alpha val="2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524000" y="1070224"/>
            <a:ext cx="312134" cy="312134"/>
          </a:xfrm>
          <a:prstGeom prst="ellipse">
            <a:avLst/>
          </a:prstGeom>
          <a:solidFill>
            <a:srgbClr val="FFFFFF">
              <a:alpha val="1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2638320" y="1570434"/>
            <a:ext cx="904679" cy="904679"/>
          </a:xfrm>
          <a:prstGeom prst="ellipse">
            <a:avLst/>
          </a:prstGeom>
          <a:solidFill>
            <a:srgbClr val="FFFFFF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378236" y="5419101"/>
            <a:ext cx="298114" cy="298114"/>
          </a:xfrm>
          <a:prstGeom prst="ellipse">
            <a:avLst/>
          </a:prstGeom>
          <a:solidFill>
            <a:srgbClr val="FFFFFF">
              <a:alpha val="2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837236" y="1153841"/>
            <a:ext cx="440814" cy="440814"/>
          </a:xfrm>
          <a:prstGeom prst="ellipse">
            <a:avLst/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Freeform 11"/>
          <p:cNvSpPr/>
          <p:nvPr/>
        </p:nvSpPr>
        <p:spPr>
          <a:xfrm rot="-5400000">
            <a:off x="1628588" y="1470438"/>
            <a:ext cx="6859386" cy="3917119"/>
          </a:xfrm>
          <a:custGeom>
            <a:avLst/>
            <a:gdLst/>
            <a:ahLst/>
            <a:cxnLst/>
            <a:rect l="l" t="t" r="r" b="b"/>
            <a:pathLst>
              <a:path w="6859386" h="3917119">
                <a:moveTo>
                  <a:pt x="6844894" y="0"/>
                </a:moveTo>
                <a:lnTo>
                  <a:pt x="6859386" y="3917119"/>
                </a:lnTo>
                <a:lnTo>
                  <a:pt x="11483" y="3917119"/>
                </a:lnTo>
                <a:lnTo>
                  <a:pt x="11483" y="2356597"/>
                </a:lnTo>
                <a:cubicBezTo>
                  <a:pt x="12988" y="1577905"/>
                  <a:pt x="0" y="1039438"/>
                  <a:pt x="1505" y="260746"/>
                </a:cubicBezTo>
                <a:cubicBezTo>
                  <a:pt x="2673946" y="2903060"/>
                  <a:pt x="5346384" y="2082124"/>
                  <a:pt x="6844894" y="0"/>
                </a:cubicBezTo>
                <a:close/>
              </a:path>
            </a:pathLst>
          </a:custGeom>
          <a:solidFill>
            <a:srgbClr val="044B89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 rot="-5400000">
            <a:off x="4283189" y="-16039"/>
            <a:ext cx="6868899" cy="6879173"/>
          </a:xfrm>
          <a:custGeom>
            <a:avLst/>
            <a:gdLst/>
            <a:ahLst/>
            <a:cxnLst/>
            <a:rect l="l" t="t" r="r" b="b"/>
            <a:pathLst>
              <a:path w="6868899" h="6879173">
                <a:moveTo>
                  <a:pt x="6868899" y="197279"/>
                </a:moveTo>
                <a:cubicBezTo>
                  <a:pt x="6865271" y="1808265"/>
                  <a:pt x="6858008" y="6879173"/>
                  <a:pt x="6858008" y="6879173"/>
                </a:cubicBezTo>
                <a:lnTo>
                  <a:pt x="0" y="6879173"/>
                </a:lnTo>
                <a:lnTo>
                  <a:pt x="0" y="0"/>
                </a:lnTo>
                <a:cubicBezTo>
                  <a:pt x="2329548" y="1257529"/>
                  <a:pt x="4524842" y="1741029"/>
                  <a:pt x="6868899" y="19727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085205" y="4348480"/>
            <a:ext cx="5217160" cy="6451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二、</a:t>
            </a:r>
            <a:r>
              <a:rPr lang="en-US" altLang="zh-CN" sz="3600" b="1" i="0" u="none" strike="noStrike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ONF、I2RS</a:t>
            </a:r>
            <a:r>
              <a:rPr lang="zh-CN" altLang="en-US" sz="3600" b="1" i="0" u="none" strike="noStrike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 </a:t>
            </a:r>
            <a:r>
              <a:rPr lang="en-US" altLang="zh-CN" sz="3600" b="1" i="0" u="none" strike="noStrike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Overlay</a:t>
            </a:r>
            <a:r>
              <a:rPr lang="zh-CN" altLang="en-US" sz="3600" b="1" i="0" u="none" strike="noStrike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的架构对比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085205" y="5300345"/>
            <a:ext cx="5217795" cy="11988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 dirty="0" err="1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三、SDN核心设计思想</a:t>
            </a:r>
            <a:r>
              <a:rPr lang="zh-CN" altLang="en-US" sz="3600" b="1" i="0" u="none" strike="noStrike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与方法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60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 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8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CONTENTS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085205" y="2842895"/>
            <a:ext cx="5071745" cy="11988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 dirty="0" err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一、</a:t>
            </a:r>
            <a:r>
              <a:rPr lang="en-US" altLang="zh-CN" sz="3600" b="1" i="0" u="none" strike="noStrike" dirty="0" err="1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ONF</a:t>
            </a:r>
            <a:r>
              <a:rPr lang="zh-CN" altLang="en-US" sz="3600" b="1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</a:t>
            </a:r>
            <a:r>
              <a:rPr lang="en-US" altLang="zh-CN" sz="3600" b="1" i="0" u="none" strike="noStrike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SDN</a:t>
            </a:r>
            <a:r>
              <a:rPr lang="zh-CN" altLang="en-US" sz="3600" b="1" i="0" u="none" strike="noStrike" dirty="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体系结构对创新动因的响应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0" y="198849"/>
            <a:ext cx="12196230" cy="1670803"/>
          </a:xfrm>
          <a:custGeom>
            <a:avLst/>
            <a:gdLst/>
            <a:ahLst/>
            <a:cxnLst/>
            <a:rect l="l" t="t" r="r" b="b"/>
            <a:pathLst>
              <a:path w="12196230" h="1670803">
                <a:moveTo>
                  <a:pt x="12196230" y="0"/>
                </a:moveTo>
                <a:lnTo>
                  <a:pt x="12196230" y="1531134"/>
                </a:lnTo>
                <a:lnTo>
                  <a:pt x="0" y="1531134"/>
                </a:lnTo>
                <a:lnTo>
                  <a:pt x="0" y="898521"/>
                </a:lnTo>
                <a:lnTo>
                  <a:pt x="8039" y="901003"/>
                </a:lnTo>
                <a:cubicBezTo>
                  <a:pt x="2756296" y="1670803"/>
                  <a:pt x="7498255" y="1118846"/>
                  <a:pt x="10236233" y="536472"/>
                </a:cubicBezTo>
                <a:cubicBezTo>
                  <a:pt x="10783828" y="419998"/>
                  <a:pt x="11406709" y="250902"/>
                  <a:pt x="12063993" y="42949"/>
                </a:cubicBezTo>
                <a:lnTo>
                  <a:pt x="12196230" y="0"/>
                </a:lnTo>
                <a:close/>
              </a:path>
            </a:pathLst>
          </a:custGeom>
          <a:solidFill>
            <a:srgbClr val="044B8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 rot="10800000">
            <a:off x="0" y="0"/>
            <a:ext cx="12192000" cy="1582061"/>
          </a:xfrm>
          <a:custGeom>
            <a:avLst/>
            <a:gdLst/>
            <a:ahLst/>
            <a:cxnLst/>
            <a:rect l="l" t="t" r="r" b="b"/>
            <a:pathLst>
              <a:path w="12192000" h="1582061">
                <a:moveTo>
                  <a:pt x="12192000" y="1582061"/>
                </a:moveTo>
                <a:lnTo>
                  <a:pt x="0" y="1582061"/>
                </a:lnTo>
                <a:lnTo>
                  <a:pt x="0" y="494090"/>
                </a:lnTo>
                <a:cubicBezTo>
                  <a:pt x="1770742" y="786856"/>
                  <a:pt x="7460343" y="1174928"/>
                  <a:pt x="12192000" y="0"/>
                </a:cubicBezTo>
                <a:lnTo>
                  <a:pt x="12192000" y="1582061"/>
                </a:lnTo>
                <a:close/>
              </a:path>
            </a:pathLst>
          </a:cu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0" y="6172200"/>
            <a:ext cx="12196445" cy="748359"/>
          </a:xfrm>
          <a:custGeom>
            <a:avLst/>
            <a:gdLst/>
            <a:ahLst/>
            <a:cxnLst/>
            <a:rect l="l" t="t" r="r" b="b"/>
            <a:pathLst>
              <a:path w="12196445" h="748359">
                <a:moveTo>
                  <a:pt x="12196445" y="0"/>
                </a:moveTo>
                <a:lnTo>
                  <a:pt x="12196445" y="685800"/>
                </a:lnTo>
                <a:lnTo>
                  <a:pt x="0" y="685800"/>
                </a:lnTo>
                <a:lnTo>
                  <a:pt x="0" y="402450"/>
                </a:lnTo>
                <a:lnTo>
                  <a:pt x="8039" y="403563"/>
                </a:lnTo>
                <a:cubicBezTo>
                  <a:pt x="2756344" y="748359"/>
                  <a:pt x="7498387" y="501136"/>
                  <a:pt x="10236413" y="240288"/>
                </a:cubicBezTo>
                <a:cubicBezTo>
                  <a:pt x="10784018" y="188119"/>
                  <a:pt x="11406910" y="112380"/>
                  <a:pt x="12064206" y="19237"/>
                </a:cubicBezTo>
                <a:lnTo>
                  <a:pt x="12196445" y="0"/>
                </a:lnTo>
                <a:close/>
              </a:path>
            </a:pathLst>
          </a:custGeom>
          <a:solidFill>
            <a:srgbClr val="044B8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84200" y="165100"/>
            <a:ext cx="9203055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一、</a:t>
            </a:r>
            <a:r>
              <a:rPr lang="en-US" altLang="zh-CN" sz="36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ONF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</a:t>
            </a:r>
            <a:r>
              <a:rPr lang="en-US" altLang="zh-CN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SDN</a:t>
            </a:r>
            <a:r>
              <a:rPr lang="zh-CN" altLang="en-US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体系结构对创新动因的响应</a:t>
            </a:r>
          </a:p>
          <a:p>
            <a:pPr marL="0" indent="0" algn="l">
              <a:lnSpc>
                <a:spcPct val="100000"/>
              </a:lnSpc>
              <a:defRPr/>
            </a:pPr>
            <a:endParaRPr lang="zh-CN" altLang="en-US" sz="3600" b="1" i="0" u="none" strike="noStrike" dirty="0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87680" y="1717675"/>
            <a:ext cx="5488305" cy="4454525"/>
          </a:xfrm>
          <a:prstGeom prst="roundRect">
            <a:avLst>
              <a:gd name="adj" fmla="val 2352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562735" y="1715135"/>
            <a:ext cx="3479800" cy="5073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传统网络面临</a:t>
            </a: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</a:t>
            </a:r>
            <a:r>
              <a:rPr lang="en-US" sz="24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创新动因</a:t>
            </a:r>
            <a:endParaRPr lang="en-US" sz="2400" dirty="0"/>
          </a:p>
        </p:txBody>
      </p:sp>
      <p:sp>
        <p:nvSpPr>
          <p:cNvPr id="9" name="AutoShape 9"/>
          <p:cNvSpPr/>
          <p:nvPr/>
        </p:nvSpPr>
        <p:spPr>
          <a:xfrm>
            <a:off x="641984" y="2355850"/>
            <a:ext cx="5194935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</a:t>
            </a:r>
            <a:r>
              <a:rPr lang="en-US" sz="24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.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sz="2400" b="1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设备封闭化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控制与数据平面紧耦合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厂商私有协议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难以创新</a:t>
            </a:r>
            <a:endParaRPr lang="en-US" sz="2400" b="0" i="0" u="none" strike="noStrike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2. </a:t>
            </a:r>
            <a:r>
              <a:rPr lang="en-US" sz="2400" b="1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运维碎片化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设备分散配置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缺乏全局视图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运维复杂低效</a:t>
            </a:r>
            <a:endParaRPr lang="en-US" sz="2400" b="0" i="0" u="none" strike="noStrike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3. </a:t>
            </a:r>
            <a:r>
              <a:rPr lang="en-US" sz="2400" b="1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业务响应慢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新业务部署需逐台配置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周期长、灵活性差</a:t>
            </a:r>
            <a:endParaRPr lang="en-US" sz="2400" b="0" i="0" u="none" strike="noStrike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4. </a:t>
            </a:r>
            <a:r>
              <a:rPr lang="en-US" sz="2400" b="1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厂商锁定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专有硬件与软件绑定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投资成本高、扩展性差</a:t>
            </a:r>
            <a:endParaRPr lang="en-US" sz="2400" b="0" i="0" u="none" strike="noStrike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991223" y="3528694"/>
            <a:ext cx="1143000" cy="8286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400" b="1" i="0" u="none" strike="noStrike" dirty="0">
                <a:solidFill>
                  <a:srgbClr val="044B8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5400" dirty="0"/>
          </a:p>
        </p:txBody>
      </p:sp>
      <p:sp>
        <p:nvSpPr>
          <p:cNvPr id="11" name="AutoShape 11"/>
          <p:cNvSpPr/>
          <p:nvPr/>
        </p:nvSpPr>
        <p:spPr>
          <a:xfrm>
            <a:off x="7106920" y="1713230"/>
            <a:ext cx="4913630" cy="4459605"/>
          </a:xfrm>
          <a:prstGeom prst="roundRect">
            <a:avLst>
              <a:gd name="adj" fmla="val 2352"/>
            </a:avLst>
          </a:prstGeom>
          <a:solidFill>
            <a:srgbClr val="044B8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02220" y="1715135"/>
            <a:ext cx="392303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ONF</a:t>
            </a:r>
            <a:r>
              <a:rPr lang="zh-CN" altLang="en-US" sz="24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</a:t>
            </a:r>
            <a:r>
              <a:rPr lang="en-US" sz="24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SDN体系结构的响应</a:t>
            </a:r>
            <a:endParaRPr lang="en-US" sz="2400"/>
          </a:p>
        </p:txBody>
      </p:sp>
      <p:sp>
        <p:nvSpPr>
          <p:cNvPr id="13" name="AutoShape 13"/>
          <p:cNvSpPr/>
          <p:nvPr/>
        </p:nvSpPr>
        <p:spPr>
          <a:xfrm>
            <a:off x="7341870" y="2355850"/>
            <a:ext cx="4536440" cy="34442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1. </a:t>
            </a:r>
            <a:r>
              <a:rPr lang="en-US" sz="2400" b="1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控制数据分离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控制平面与转发平面解耦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开放标准化接口</a:t>
            </a:r>
            <a:endParaRPr lang="en-US" sz="2400" b="0" i="0" u="none" strike="noStrike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2. </a:t>
            </a:r>
            <a:r>
              <a:rPr lang="en-US" sz="2400" b="1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集中式控制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控制器集中管理全网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提供全局网络视图</a:t>
            </a:r>
            <a:endParaRPr lang="en-US" sz="2400" b="0" i="0" u="none" strike="noStrike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3. </a:t>
            </a:r>
            <a:r>
              <a:rPr lang="en-US" sz="2400" b="1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开放可编程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北向API开放业务编程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南向接口标准化</a:t>
            </a:r>
            <a:endParaRPr lang="en-US" sz="2400" b="0" i="0" u="none" strike="noStrike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4. </a:t>
            </a:r>
            <a:r>
              <a:rPr lang="en-US" sz="2400" b="1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网络虚拟化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逻辑网络与物理基础设施解耦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灵活弹性</a:t>
            </a:r>
            <a:endParaRPr lang="en-US" sz="2400" b="0" i="0" u="none" strike="noStrike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0" y="198849"/>
            <a:ext cx="12196230" cy="1670803"/>
          </a:xfrm>
          <a:custGeom>
            <a:avLst/>
            <a:gdLst/>
            <a:ahLst/>
            <a:cxnLst/>
            <a:rect l="l" t="t" r="r" b="b"/>
            <a:pathLst>
              <a:path w="12196230" h="1670803">
                <a:moveTo>
                  <a:pt x="12196230" y="0"/>
                </a:moveTo>
                <a:lnTo>
                  <a:pt x="12196230" y="1531134"/>
                </a:lnTo>
                <a:lnTo>
                  <a:pt x="0" y="1531134"/>
                </a:lnTo>
                <a:lnTo>
                  <a:pt x="0" y="898521"/>
                </a:lnTo>
                <a:lnTo>
                  <a:pt x="8039" y="901003"/>
                </a:lnTo>
                <a:cubicBezTo>
                  <a:pt x="2756296" y="1670803"/>
                  <a:pt x="7498255" y="1118846"/>
                  <a:pt x="10236233" y="536472"/>
                </a:cubicBezTo>
                <a:cubicBezTo>
                  <a:pt x="10783828" y="419998"/>
                  <a:pt x="11406709" y="250902"/>
                  <a:pt x="12063993" y="42949"/>
                </a:cubicBezTo>
                <a:lnTo>
                  <a:pt x="12196230" y="0"/>
                </a:lnTo>
                <a:close/>
              </a:path>
            </a:pathLst>
          </a:custGeom>
          <a:solidFill>
            <a:srgbClr val="044B8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Freeform 3"/>
          <p:cNvSpPr/>
          <p:nvPr/>
        </p:nvSpPr>
        <p:spPr>
          <a:xfrm rot="10800000">
            <a:off x="0" y="0"/>
            <a:ext cx="12192000" cy="1582061"/>
          </a:xfrm>
          <a:custGeom>
            <a:avLst/>
            <a:gdLst/>
            <a:ahLst/>
            <a:cxnLst/>
            <a:rect l="l" t="t" r="r" b="b"/>
            <a:pathLst>
              <a:path w="12192000" h="1582061">
                <a:moveTo>
                  <a:pt x="12192000" y="1582061"/>
                </a:moveTo>
                <a:lnTo>
                  <a:pt x="0" y="1582061"/>
                </a:lnTo>
                <a:lnTo>
                  <a:pt x="0" y="494090"/>
                </a:lnTo>
                <a:cubicBezTo>
                  <a:pt x="1770742" y="786856"/>
                  <a:pt x="7460343" y="1174928"/>
                  <a:pt x="12192000" y="0"/>
                </a:cubicBezTo>
                <a:lnTo>
                  <a:pt x="12192000" y="1582061"/>
                </a:lnTo>
                <a:close/>
              </a:path>
            </a:pathLst>
          </a:cu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0" y="6172200"/>
            <a:ext cx="12196445" cy="748359"/>
          </a:xfrm>
          <a:custGeom>
            <a:avLst/>
            <a:gdLst/>
            <a:ahLst/>
            <a:cxnLst/>
            <a:rect l="l" t="t" r="r" b="b"/>
            <a:pathLst>
              <a:path w="12196445" h="748359">
                <a:moveTo>
                  <a:pt x="12196445" y="0"/>
                </a:moveTo>
                <a:lnTo>
                  <a:pt x="12196445" y="685800"/>
                </a:lnTo>
                <a:lnTo>
                  <a:pt x="0" y="685800"/>
                </a:lnTo>
                <a:lnTo>
                  <a:pt x="0" y="402450"/>
                </a:lnTo>
                <a:lnTo>
                  <a:pt x="8039" y="403563"/>
                </a:lnTo>
                <a:cubicBezTo>
                  <a:pt x="2756344" y="748359"/>
                  <a:pt x="7498387" y="501136"/>
                  <a:pt x="10236413" y="240288"/>
                </a:cubicBezTo>
                <a:cubicBezTo>
                  <a:pt x="10784018" y="188119"/>
                  <a:pt x="11406910" y="112380"/>
                  <a:pt x="12064206" y="19237"/>
                </a:cubicBezTo>
                <a:lnTo>
                  <a:pt x="12196445" y="0"/>
                </a:lnTo>
                <a:close/>
              </a:path>
            </a:pathLst>
          </a:custGeom>
          <a:solidFill>
            <a:srgbClr val="044B8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84200" y="165100"/>
            <a:ext cx="9445625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二、</a:t>
            </a:r>
            <a:r>
              <a:rPr lang="en-US" altLang="zh-CN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ONF、I2RS</a:t>
            </a:r>
            <a:r>
              <a:rPr lang="zh-CN" altLang="en-US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</a:t>
            </a:r>
            <a:r>
              <a:rPr lang="en-US" altLang="zh-CN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Overlay</a:t>
            </a:r>
            <a:r>
              <a:rPr lang="zh-CN" altLang="en-US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的架构对比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282008"/>
              </p:ext>
            </p:extLst>
          </p:nvPr>
        </p:nvGraphicFramePr>
        <p:xfrm>
          <a:off x="667067" y="1582062"/>
          <a:ext cx="10857865" cy="4876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9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9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 dirty="0" err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2400" b="1" i="0" u="none" strike="noStrike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44B8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ONF SDN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44B8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I2RS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44B8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Overlay SDN</a:t>
                      </a:r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44B8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7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44B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立足点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7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控制转发完全分离</a:t>
                      </a:r>
                      <a:r>
                        <a:rPr lang="en-US" altLang="zh-CN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, </a:t>
                      </a: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底层重构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现有设备增可编程接口</a:t>
                      </a:r>
                      <a:r>
                        <a:rPr lang="en-US" altLang="zh-CN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, </a:t>
                      </a: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增量演进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物理网络上建虚拟网络</a:t>
                      </a:r>
                      <a:r>
                        <a:rPr lang="en-US" altLang="zh-CN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, </a:t>
                      </a: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不改底层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04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44B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侧重点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7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南向接口标准化、集中控制、网络可编程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路由控制与数据面分离</a:t>
                      </a:r>
                      <a:r>
                        <a:rPr lang="en-US" altLang="zh-CN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, </a:t>
                      </a: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兼容现有路由协议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虚拟网络、多租户、数据中心网络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44B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部署位置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7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基础设施层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控制平面层</a:t>
                      </a:r>
                      <a:r>
                        <a:rPr lang="en-US" altLang="zh-CN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</a:t>
                      </a: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增量改造</a:t>
                      </a:r>
                      <a:r>
                        <a:rPr lang="en-US" altLang="zh-CN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)</a:t>
                      </a:r>
                      <a:endParaRPr lang="zh-CN" altLang="en-US" sz="2400" b="0" i="0" u="none" strike="noStrike" dirty="0">
                        <a:solidFill>
                          <a:srgbClr val="1F232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网络虚拟层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44B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演进思路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7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革命式</a:t>
                      </a:r>
                      <a:r>
                        <a:rPr lang="en-US" altLang="zh-CN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: </a:t>
                      </a: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彻底重构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渐进式</a:t>
                      </a:r>
                      <a:r>
                        <a:rPr lang="en-US" altLang="zh-CN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: </a:t>
                      </a: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兼容演进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叠加式</a:t>
                      </a:r>
                      <a:r>
                        <a:rPr lang="en-US" altLang="zh-CN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: </a:t>
                      </a: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虚实叠加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47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44B8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典型应用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7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校园网、科研网、新型网络架构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运营商网络、大规模路由网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400" b="0" i="0" u="none" strike="noStrike" dirty="0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数据中心、云平台、多租户网络</a:t>
                      </a:r>
                    </a:p>
                  </a:txBody>
                  <a:tcPr marL="101600" marR="101600" marT="101600" marB="10160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0" y="198849"/>
            <a:ext cx="12196230" cy="1670803"/>
          </a:xfrm>
          <a:custGeom>
            <a:avLst/>
            <a:gdLst/>
            <a:ahLst/>
            <a:cxnLst/>
            <a:rect l="l" t="t" r="r" b="b"/>
            <a:pathLst>
              <a:path w="12196230" h="1670803">
                <a:moveTo>
                  <a:pt x="12196230" y="0"/>
                </a:moveTo>
                <a:lnTo>
                  <a:pt x="12196230" y="1531134"/>
                </a:lnTo>
                <a:lnTo>
                  <a:pt x="0" y="1531134"/>
                </a:lnTo>
                <a:lnTo>
                  <a:pt x="0" y="898521"/>
                </a:lnTo>
                <a:lnTo>
                  <a:pt x="8039" y="901003"/>
                </a:lnTo>
                <a:cubicBezTo>
                  <a:pt x="2756296" y="1670803"/>
                  <a:pt x="7498255" y="1118846"/>
                  <a:pt x="10236233" y="536472"/>
                </a:cubicBezTo>
                <a:cubicBezTo>
                  <a:pt x="10783828" y="419998"/>
                  <a:pt x="11406709" y="250902"/>
                  <a:pt x="12063993" y="42949"/>
                </a:cubicBezTo>
                <a:lnTo>
                  <a:pt x="12196230" y="0"/>
                </a:lnTo>
                <a:close/>
              </a:path>
            </a:pathLst>
          </a:custGeom>
          <a:solidFill>
            <a:srgbClr val="044B8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3"/>
          <p:cNvSpPr/>
          <p:nvPr/>
        </p:nvSpPr>
        <p:spPr>
          <a:xfrm rot="10800000">
            <a:off x="0" y="0"/>
            <a:ext cx="12192000" cy="1582061"/>
          </a:xfrm>
          <a:custGeom>
            <a:avLst/>
            <a:gdLst/>
            <a:ahLst/>
            <a:cxnLst/>
            <a:rect l="l" t="t" r="r" b="b"/>
            <a:pathLst>
              <a:path w="12192000" h="1582061">
                <a:moveTo>
                  <a:pt x="12192000" y="1582061"/>
                </a:moveTo>
                <a:lnTo>
                  <a:pt x="0" y="1582061"/>
                </a:lnTo>
                <a:lnTo>
                  <a:pt x="0" y="494090"/>
                </a:lnTo>
                <a:cubicBezTo>
                  <a:pt x="1770742" y="786856"/>
                  <a:pt x="7460343" y="1174928"/>
                  <a:pt x="12192000" y="0"/>
                </a:cubicBezTo>
                <a:lnTo>
                  <a:pt x="12192000" y="1582061"/>
                </a:lnTo>
                <a:close/>
              </a:path>
            </a:pathLst>
          </a:cu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6172200"/>
            <a:ext cx="12196445" cy="748359"/>
          </a:xfrm>
          <a:custGeom>
            <a:avLst/>
            <a:gdLst/>
            <a:ahLst/>
            <a:cxnLst/>
            <a:rect l="l" t="t" r="r" b="b"/>
            <a:pathLst>
              <a:path w="12196445" h="748359">
                <a:moveTo>
                  <a:pt x="12196445" y="0"/>
                </a:moveTo>
                <a:lnTo>
                  <a:pt x="12196445" y="685800"/>
                </a:lnTo>
                <a:lnTo>
                  <a:pt x="0" y="685800"/>
                </a:lnTo>
                <a:lnTo>
                  <a:pt x="0" y="402450"/>
                </a:lnTo>
                <a:lnTo>
                  <a:pt x="8039" y="403563"/>
                </a:lnTo>
                <a:cubicBezTo>
                  <a:pt x="2756344" y="748359"/>
                  <a:pt x="7498387" y="501136"/>
                  <a:pt x="10236413" y="240288"/>
                </a:cubicBezTo>
                <a:cubicBezTo>
                  <a:pt x="10784018" y="188119"/>
                  <a:pt x="11406910" y="112380"/>
                  <a:pt x="12064206" y="19237"/>
                </a:cubicBezTo>
                <a:lnTo>
                  <a:pt x="12196445" y="0"/>
                </a:lnTo>
                <a:close/>
              </a:path>
            </a:pathLst>
          </a:custGeom>
          <a:solidFill>
            <a:srgbClr val="044B8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84200" y="165100"/>
            <a:ext cx="10285095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</a:t>
            </a:r>
            <a:r>
              <a:rPr lang="en-US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ONF、I2RS</a:t>
            </a:r>
            <a:r>
              <a:rPr lang="zh-CN" altLang="en-US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</a:t>
            </a:r>
            <a:r>
              <a:rPr lang="en-US" altLang="zh-CN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Overlay</a:t>
            </a:r>
            <a:r>
              <a:rPr lang="zh-CN" altLang="en-US" sz="36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的架构对比</a:t>
            </a:r>
          </a:p>
        </p:txBody>
      </p:sp>
      <p:sp>
        <p:nvSpPr>
          <p:cNvPr id="7" name="AutoShape 7"/>
          <p:cNvSpPr/>
          <p:nvPr/>
        </p:nvSpPr>
        <p:spPr>
          <a:xfrm>
            <a:off x="281305" y="1746885"/>
            <a:ext cx="3806190" cy="4680585"/>
          </a:xfrm>
          <a:prstGeom prst="roundRect">
            <a:avLst>
              <a:gd name="adj" fmla="val 2962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02335" y="1989455"/>
            <a:ext cx="2729865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ONF SDN三层架构</a:t>
            </a:r>
          </a:p>
        </p:txBody>
      </p:sp>
      <p:sp>
        <p:nvSpPr>
          <p:cNvPr id="9" name="AutoShape 9"/>
          <p:cNvSpPr/>
          <p:nvPr/>
        </p:nvSpPr>
        <p:spPr>
          <a:xfrm>
            <a:off x="607695" y="2566035"/>
            <a:ext cx="3195320" cy="896620"/>
          </a:xfrm>
          <a:prstGeom prst="roundRect">
            <a:avLst>
              <a:gd name="adj" fmla="val 6666"/>
            </a:avLst>
          </a:prstGeom>
          <a:solidFill>
            <a:srgbClr val="044B8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应用层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业务应用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/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北向API</a:t>
            </a:r>
            <a:endParaRPr lang="en-US" sz="2400" b="0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2615" y="3612515"/>
            <a:ext cx="3199130" cy="959485"/>
          </a:xfrm>
          <a:prstGeom prst="roundRect">
            <a:avLst>
              <a:gd name="adj" fmla="val 6666"/>
            </a:avLst>
          </a:prstGeom>
          <a:solidFill>
            <a:srgbClr val="044B8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控制层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SDN控制器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/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集中控制</a:t>
            </a:r>
            <a:endParaRPr lang="en-US" sz="2400" b="0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6580" y="4721860"/>
            <a:ext cx="3208020" cy="909955"/>
          </a:xfrm>
          <a:prstGeom prst="roundRect">
            <a:avLst>
              <a:gd name="adj" fmla="val 6666"/>
            </a:avLst>
          </a:prstGeom>
          <a:solidFill>
            <a:srgbClr val="044B8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基础设施层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转发设备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/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南向接口</a:t>
            </a:r>
            <a:endParaRPr lang="en-US" sz="2400" b="0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84200" y="5739765"/>
            <a:ext cx="318833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三层完全分离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zh-CN" alt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endParaRPr lang="en-US" sz="2400" b="0" i="0" u="none" strike="noStrike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标准化接口通信</a:t>
            </a:r>
            <a:endParaRPr lang="en-US" sz="2400" b="0" i="0" u="none" strike="noStrike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92930" y="1746885"/>
            <a:ext cx="3429000" cy="4680585"/>
          </a:xfrm>
          <a:prstGeom prst="roundRect">
            <a:avLst>
              <a:gd name="adj" fmla="val 2962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110480" y="1914525"/>
            <a:ext cx="2101850" cy="4375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I2RS混合架构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498340" y="2451100"/>
            <a:ext cx="3234055" cy="635000"/>
          </a:xfrm>
          <a:prstGeom prst="roundRect">
            <a:avLst>
              <a:gd name="adj" fmla="val 8000"/>
            </a:avLst>
          </a:prstGeom>
          <a:solidFill>
            <a:srgbClr val="044B8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网络应用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/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服务</a:t>
            </a:r>
            <a:endParaRPr lang="en-US" sz="2400" b="0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496435" y="3289300"/>
            <a:ext cx="3235960" cy="635000"/>
          </a:xfrm>
          <a:prstGeom prst="roundRect">
            <a:avLst>
              <a:gd name="adj" fmla="val 8000"/>
            </a:avLst>
          </a:prstGeom>
          <a:solidFill>
            <a:srgbClr val="044B8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I2RS接口(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可编程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)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498975" y="4127500"/>
            <a:ext cx="3233420" cy="1400175"/>
          </a:xfrm>
          <a:prstGeom prst="roundRect">
            <a:avLst>
              <a:gd name="adj" fmla="val 5000"/>
            </a:avLst>
          </a:prstGeom>
          <a:solidFill>
            <a:srgbClr val="044B8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传统网络设备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分布式控制+本地代理</a:t>
            </a:r>
            <a:endParaRPr lang="en-US" sz="2400" b="0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现有路由协议保留</a:t>
            </a:r>
            <a:endParaRPr lang="en-US" sz="2400" b="0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572000" y="5631815"/>
            <a:ext cx="3048000" cy="742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分布式控制为主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集中管控为辅</a:t>
            </a:r>
            <a:endParaRPr lang="en-US" sz="2400" b="0" i="0" u="none" strike="noStrike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290560" y="1746885"/>
            <a:ext cx="3429000" cy="4680585"/>
          </a:xfrm>
          <a:prstGeom prst="roundRect">
            <a:avLst>
              <a:gd name="adj" fmla="val 2962"/>
            </a:avLst>
          </a:prstGeom>
          <a:solidFill>
            <a:srgbClr val="F0F7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622665" y="2011045"/>
            <a:ext cx="25654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Overlay叠加架构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486775" y="2555240"/>
            <a:ext cx="2943225" cy="635000"/>
          </a:xfrm>
          <a:prstGeom prst="roundRect">
            <a:avLst>
              <a:gd name="adj" fmla="val 8000"/>
            </a:avLst>
          </a:prstGeom>
          <a:solidFill>
            <a:srgbClr val="044B89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租户/业务应用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486775" y="3387725"/>
            <a:ext cx="2980690" cy="1109980"/>
          </a:xfrm>
          <a:prstGeom prst="roundRect">
            <a:avLst>
              <a:gd name="adj" fmla="val 6666"/>
            </a:avLst>
          </a:prstGeom>
          <a:solidFill>
            <a:srgbClr val="044B89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虚拟网络Overlay</a:t>
            </a:r>
            <a:endParaRPr 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隧道封装</a:t>
            </a:r>
            <a:r>
              <a:rPr lang="en-US" sz="2400" b="0" i="0" u="none" strike="noStrike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/</a:t>
            </a: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虚拟转发</a:t>
            </a:r>
            <a:endParaRPr lang="en-US" sz="2400" b="0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484870" y="4613275"/>
            <a:ext cx="2998470" cy="808355"/>
          </a:xfrm>
          <a:prstGeom prst="roundRect">
            <a:avLst>
              <a:gd name="adj" fmla="val 8000"/>
            </a:avLst>
          </a:prstGeom>
          <a:solidFill>
            <a:srgbClr val="044B8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物理Underlying网络</a:t>
            </a:r>
            <a:endParaRPr lang="en-US" sz="2400" b="0" i="0" u="none" strike="noStrike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419465" y="5631815"/>
            <a:ext cx="3048000" cy="742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虚拟与物理叠加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底层网络透明</a:t>
            </a:r>
            <a:endParaRPr lang="en-US" sz="2400" b="0" i="0" u="none" strike="noStrike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0" y="198849"/>
            <a:ext cx="12196230" cy="1670803"/>
          </a:xfrm>
          <a:custGeom>
            <a:avLst/>
            <a:gdLst/>
            <a:ahLst/>
            <a:cxnLst/>
            <a:rect l="l" t="t" r="r" b="b"/>
            <a:pathLst>
              <a:path w="12196230" h="1670803">
                <a:moveTo>
                  <a:pt x="12196230" y="0"/>
                </a:moveTo>
                <a:lnTo>
                  <a:pt x="12196230" y="1531134"/>
                </a:lnTo>
                <a:lnTo>
                  <a:pt x="0" y="1531134"/>
                </a:lnTo>
                <a:lnTo>
                  <a:pt x="0" y="898521"/>
                </a:lnTo>
                <a:lnTo>
                  <a:pt x="8039" y="901003"/>
                </a:lnTo>
                <a:cubicBezTo>
                  <a:pt x="2756296" y="1670803"/>
                  <a:pt x="7498255" y="1118846"/>
                  <a:pt x="10236233" y="536472"/>
                </a:cubicBezTo>
                <a:cubicBezTo>
                  <a:pt x="10783828" y="419998"/>
                  <a:pt x="11406709" y="250902"/>
                  <a:pt x="12063993" y="42949"/>
                </a:cubicBezTo>
                <a:lnTo>
                  <a:pt x="12196230" y="0"/>
                </a:lnTo>
                <a:close/>
              </a:path>
            </a:pathLst>
          </a:custGeom>
          <a:solidFill>
            <a:srgbClr val="044B8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3"/>
          <p:cNvSpPr/>
          <p:nvPr/>
        </p:nvSpPr>
        <p:spPr>
          <a:xfrm rot="10800000">
            <a:off x="0" y="0"/>
            <a:ext cx="12192000" cy="1582061"/>
          </a:xfrm>
          <a:custGeom>
            <a:avLst/>
            <a:gdLst/>
            <a:ahLst/>
            <a:cxnLst/>
            <a:rect l="l" t="t" r="r" b="b"/>
            <a:pathLst>
              <a:path w="12192000" h="1582061">
                <a:moveTo>
                  <a:pt x="12192000" y="1582061"/>
                </a:moveTo>
                <a:lnTo>
                  <a:pt x="0" y="1582061"/>
                </a:lnTo>
                <a:lnTo>
                  <a:pt x="0" y="494090"/>
                </a:lnTo>
                <a:cubicBezTo>
                  <a:pt x="1770742" y="786856"/>
                  <a:pt x="7460343" y="1174928"/>
                  <a:pt x="12192000" y="0"/>
                </a:cubicBezTo>
                <a:lnTo>
                  <a:pt x="12192000" y="1582061"/>
                </a:lnTo>
                <a:close/>
              </a:path>
            </a:pathLst>
          </a:cu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6172200"/>
            <a:ext cx="12196445" cy="748359"/>
          </a:xfrm>
          <a:custGeom>
            <a:avLst/>
            <a:gdLst/>
            <a:ahLst/>
            <a:cxnLst/>
            <a:rect l="l" t="t" r="r" b="b"/>
            <a:pathLst>
              <a:path w="12196445" h="748359">
                <a:moveTo>
                  <a:pt x="12196445" y="0"/>
                </a:moveTo>
                <a:lnTo>
                  <a:pt x="12196445" y="685800"/>
                </a:lnTo>
                <a:lnTo>
                  <a:pt x="0" y="685800"/>
                </a:lnTo>
                <a:lnTo>
                  <a:pt x="0" y="402450"/>
                </a:lnTo>
                <a:lnTo>
                  <a:pt x="8039" y="403563"/>
                </a:lnTo>
                <a:cubicBezTo>
                  <a:pt x="2756344" y="748359"/>
                  <a:pt x="7498387" y="501136"/>
                  <a:pt x="10236413" y="240288"/>
                </a:cubicBezTo>
                <a:cubicBezTo>
                  <a:pt x="10784018" y="188119"/>
                  <a:pt x="11406910" y="112380"/>
                  <a:pt x="12064206" y="19237"/>
                </a:cubicBezTo>
                <a:lnTo>
                  <a:pt x="12196445" y="0"/>
                </a:lnTo>
                <a:close/>
              </a:path>
            </a:pathLst>
          </a:custGeom>
          <a:solidFill>
            <a:srgbClr val="044B8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84200" y="165100"/>
            <a:ext cx="7359650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36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</a:t>
            </a:r>
            <a:r>
              <a:rPr lang="en-US" sz="36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36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SDN</a:t>
            </a:r>
            <a:r>
              <a:rPr lang="zh-CN" altLang="en-US" sz="36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核心设计思想与方法</a:t>
            </a:r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492760" y="1745460"/>
            <a:ext cx="3494191" cy="2070632"/>
          </a:xfrm>
          <a:prstGeom prst="roundRect">
            <a:avLst>
              <a:gd name="adj" fmla="val 5000"/>
            </a:avLst>
          </a:prstGeom>
          <a:solidFill>
            <a:srgbClr val="044B8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583565" y="1942170"/>
            <a:ext cx="3543368" cy="4503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思想一</a:t>
            </a:r>
            <a:r>
              <a:rPr 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: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控制与数据分离</a:t>
            </a:r>
            <a:endParaRPr lang="en-US" sz="2400" dirty="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583565" y="2392680"/>
            <a:ext cx="3185160" cy="12941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控制平面与数据平面解耦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管理与转发分离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实现各层独立演进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4310487" y="1745460"/>
            <a:ext cx="3494191" cy="2070632"/>
          </a:xfrm>
          <a:prstGeom prst="roundRect">
            <a:avLst>
              <a:gd name="adj" fmla="val 5000"/>
            </a:avLst>
          </a:prstGeom>
          <a:solidFill>
            <a:srgbClr val="044B8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4504609" y="1874874"/>
            <a:ext cx="3105947" cy="4529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思想二</a:t>
            </a:r>
            <a:r>
              <a:rPr 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: </a:t>
            </a:r>
            <a:r>
              <a:rPr lang="en-US" sz="2400" b="1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集中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式管控</a:t>
            </a:r>
            <a:endParaRPr lang="en-US" sz="2400" dirty="0"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4504609" y="2392532"/>
            <a:ext cx="3105947" cy="1294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集中式控制逻辑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全局网络视图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统一策略管理与流量调度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8128214" y="1745460"/>
            <a:ext cx="3494191" cy="2070632"/>
          </a:xfrm>
          <a:prstGeom prst="roundRect">
            <a:avLst>
              <a:gd name="adj" fmla="val 5000"/>
            </a:avLst>
          </a:prstGeom>
          <a:solidFill>
            <a:srgbClr val="044B8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8322336" y="1874874"/>
            <a:ext cx="3105947" cy="4529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思想三</a:t>
            </a:r>
            <a:r>
              <a:rPr 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: </a:t>
            </a:r>
            <a:r>
              <a:rPr lang="en-US" sz="24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开放</a:t>
            </a: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可编程</a:t>
            </a: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8322336" y="2392532"/>
            <a:ext cx="3264313" cy="1294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开放接口与可编程能力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北向API赋能业务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南向接口标准化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492760" y="4074921"/>
            <a:ext cx="3494191" cy="2070632"/>
          </a:xfrm>
          <a:prstGeom prst="roundRect">
            <a:avLst>
              <a:gd name="adj" fmla="val 5000"/>
            </a:avLst>
          </a:prstGeom>
          <a:solidFill>
            <a:srgbClr val="044B8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686882" y="4204335"/>
            <a:ext cx="3105947" cy="4529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思想四</a:t>
            </a:r>
            <a:r>
              <a:rPr 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: </a:t>
            </a:r>
            <a:r>
              <a:rPr lang="en-US" sz="24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抽象</a:t>
            </a:r>
            <a:endParaRPr lang="en-US" sz="2400" b="1" i="0" u="none" strike="noStrike" dirty="0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686882" y="4721993"/>
            <a:ext cx="3206388" cy="1294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网络能力抽象与虚拟化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物理基础设施与逻辑网络解耦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4310487" y="4074921"/>
            <a:ext cx="3494191" cy="2070632"/>
          </a:xfrm>
          <a:prstGeom prst="roundRect">
            <a:avLst>
              <a:gd name="adj" fmla="val 5000"/>
            </a:avLst>
          </a:prstGeom>
          <a:solidFill>
            <a:srgbClr val="044B8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4"/>
            </p:custDataLst>
          </p:nvPr>
        </p:nvSpPr>
        <p:spPr>
          <a:xfrm>
            <a:off x="4504609" y="4204335"/>
            <a:ext cx="3105947" cy="4529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思想五</a:t>
            </a:r>
            <a:r>
              <a:rPr 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: </a:t>
            </a: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自动化</a:t>
            </a:r>
            <a:r>
              <a:rPr lang="en-US" sz="24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编排</a:t>
            </a:r>
            <a:endParaRPr lang="en-US" sz="2400" dirty="0"/>
          </a:p>
        </p:txBody>
      </p:sp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4504609" y="4721993"/>
            <a:ext cx="3105947" cy="1294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高层业务意图自动编排为底层网络配置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2400" b="0" i="0" u="none" strike="noStrike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实现自动化部署</a:t>
            </a:r>
            <a:r>
              <a:rPr lang="en-US" sz="2400" b="0" i="0" u="none" strike="noStrike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8128214" y="4074921"/>
            <a:ext cx="3494191" cy="2070632"/>
          </a:xfrm>
          <a:prstGeom prst="roundRect">
            <a:avLst>
              <a:gd name="adj" fmla="val 5000"/>
            </a:avLst>
          </a:prstGeom>
          <a:solidFill>
            <a:srgbClr val="044B8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17"/>
            </p:custDataLst>
          </p:nvPr>
        </p:nvSpPr>
        <p:spPr>
          <a:xfrm>
            <a:off x="8322336" y="4204335"/>
            <a:ext cx="3105947" cy="4529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思想六</a:t>
            </a:r>
            <a:r>
              <a:rPr 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: </a:t>
            </a:r>
            <a:r>
              <a:rPr lang="en-US" sz="2400" b="1" i="0" u="none" strike="noStrike" dirty="0" err="1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融合</a:t>
            </a:r>
            <a:endParaRPr lang="en-US" sz="2400" b="1" i="0" u="none" strike="noStrike" dirty="0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4" name="AutoShape 24"/>
          <p:cNvSpPr/>
          <p:nvPr>
            <p:custDataLst>
              <p:tags r:id="rId18"/>
            </p:custDataLst>
          </p:nvPr>
        </p:nvSpPr>
        <p:spPr>
          <a:xfrm>
            <a:off x="8322336" y="4721993"/>
            <a:ext cx="3105947" cy="1294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控制与转发、物理与虚拟、管理与业务的多层次融合统一。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0" y="198849"/>
            <a:ext cx="12196230" cy="1670803"/>
          </a:xfrm>
          <a:custGeom>
            <a:avLst/>
            <a:gdLst/>
            <a:ahLst/>
            <a:cxnLst/>
            <a:rect l="l" t="t" r="r" b="b"/>
            <a:pathLst>
              <a:path w="12196230" h="1670803">
                <a:moveTo>
                  <a:pt x="12196230" y="0"/>
                </a:moveTo>
                <a:lnTo>
                  <a:pt x="12196230" y="1531134"/>
                </a:lnTo>
                <a:lnTo>
                  <a:pt x="0" y="1531134"/>
                </a:lnTo>
                <a:lnTo>
                  <a:pt x="0" y="898521"/>
                </a:lnTo>
                <a:lnTo>
                  <a:pt x="8039" y="901003"/>
                </a:lnTo>
                <a:cubicBezTo>
                  <a:pt x="2756296" y="1670803"/>
                  <a:pt x="7498255" y="1118846"/>
                  <a:pt x="10236233" y="536472"/>
                </a:cubicBezTo>
                <a:cubicBezTo>
                  <a:pt x="10783828" y="419998"/>
                  <a:pt x="11406709" y="250902"/>
                  <a:pt x="12063993" y="42949"/>
                </a:cubicBezTo>
                <a:lnTo>
                  <a:pt x="12196230" y="0"/>
                </a:lnTo>
                <a:close/>
              </a:path>
            </a:pathLst>
          </a:custGeom>
          <a:solidFill>
            <a:srgbClr val="044B8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3"/>
          <p:cNvSpPr/>
          <p:nvPr/>
        </p:nvSpPr>
        <p:spPr>
          <a:xfrm rot="10800000">
            <a:off x="0" y="0"/>
            <a:ext cx="12192000" cy="1582061"/>
          </a:xfrm>
          <a:custGeom>
            <a:avLst/>
            <a:gdLst/>
            <a:ahLst/>
            <a:cxnLst/>
            <a:rect l="l" t="t" r="r" b="b"/>
            <a:pathLst>
              <a:path w="12192000" h="1582061">
                <a:moveTo>
                  <a:pt x="12192000" y="1582061"/>
                </a:moveTo>
                <a:lnTo>
                  <a:pt x="0" y="1582061"/>
                </a:lnTo>
                <a:lnTo>
                  <a:pt x="0" y="494090"/>
                </a:lnTo>
                <a:cubicBezTo>
                  <a:pt x="1770742" y="786856"/>
                  <a:pt x="7460343" y="1174928"/>
                  <a:pt x="12192000" y="0"/>
                </a:cubicBezTo>
                <a:lnTo>
                  <a:pt x="12192000" y="1582061"/>
                </a:lnTo>
                <a:close/>
              </a:path>
            </a:pathLst>
          </a:cu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0" y="6172200"/>
            <a:ext cx="12196445" cy="748359"/>
          </a:xfrm>
          <a:custGeom>
            <a:avLst/>
            <a:gdLst/>
            <a:ahLst/>
            <a:cxnLst/>
            <a:rect l="l" t="t" r="r" b="b"/>
            <a:pathLst>
              <a:path w="12196445" h="748359">
                <a:moveTo>
                  <a:pt x="12196445" y="0"/>
                </a:moveTo>
                <a:lnTo>
                  <a:pt x="12196445" y="685800"/>
                </a:lnTo>
                <a:lnTo>
                  <a:pt x="0" y="685800"/>
                </a:lnTo>
                <a:lnTo>
                  <a:pt x="0" y="402450"/>
                </a:lnTo>
                <a:lnTo>
                  <a:pt x="8039" y="403563"/>
                </a:lnTo>
                <a:cubicBezTo>
                  <a:pt x="2756344" y="748359"/>
                  <a:pt x="7498387" y="501136"/>
                  <a:pt x="10236413" y="240288"/>
                </a:cubicBezTo>
                <a:cubicBezTo>
                  <a:pt x="10784018" y="188119"/>
                  <a:pt x="11406910" y="112380"/>
                  <a:pt x="12064206" y="19237"/>
                </a:cubicBezTo>
                <a:lnTo>
                  <a:pt x="12196445" y="0"/>
                </a:lnTo>
                <a:close/>
              </a:path>
            </a:pathLst>
          </a:custGeom>
          <a:solidFill>
            <a:srgbClr val="044B8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84200" y="165100"/>
            <a:ext cx="7359650" cy="645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36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</a:t>
            </a:r>
            <a:r>
              <a:rPr lang="en-US" sz="36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36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SDN</a:t>
            </a:r>
            <a:r>
              <a:rPr lang="zh-CN" altLang="en-US" sz="3600" b="1" i="0" u="none" strike="noStrike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核心设计思想与方法</a:t>
            </a:r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489386" y="1804670"/>
            <a:ext cx="3488503" cy="2067261"/>
          </a:xfrm>
          <a:prstGeom prst="roundRect">
            <a:avLst>
              <a:gd name="adj" fmla="val 5000"/>
            </a:avLst>
          </a:prstGeom>
          <a:solidFill>
            <a:srgbClr val="044B8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683838" y="1939688"/>
            <a:ext cx="3100246" cy="46125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</a:t>
            </a:r>
            <a:r>
              <a:rPr 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一: </a:t>
            </a: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分层解耦法</a:t>
            </a:r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683192" y="2450689"/>
            <a:ext cx="3100892" cy="12920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拆分应用、控制、转发三层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标准接口解耦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各层独立演进</a:t>
            </a:r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4300899" y="1804670"/>
            <a:ext cx="3488503" cy="2067261"/>
          </a:xfrm>
          <a:prstGeom prst="roundRect">
            <a:avLst>
              <a:gd name="adj" fmla="val 5000"/>
            </a:avLst>
          </a:prstGeom>
          <a:solidFill>
            <a:srgbClr val="044B8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4494705" y="1933874"/>
            <a:ext cx="3100892" cy="4522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</a:t>
            </a:r>
            <a:r>
              <a:rPr 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二: </a:t>
            </a: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接口标准化法</a:t>
            </a: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4494705" y="2450689"/>
            <a:ext cx="3100892" cy="12920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统一协议打破厂商壁垒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实现多厂商设备互通与能力开放</a:t>
            </a: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8112412" y="1804670"/>
            <a:ext cx="3488503" cy="2067261"/>
          </a:xfrm>
          <a:prstGeom prst="roundRect">
            <a:avLst>
              <a:gd name="adj" fmla="val 5000"/>
            </a:avLst>
          </a:prstGeom>
          <a:solidFill>
            <a:srgbClr val="044B8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8113058" y="1888652"/>
            <a:ext cx="3491087" cy="4974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</a:t>
            </a:r>
            <a:r>
              <a:rPr 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三: </a:t>
            </a: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全局状态建模法</a:t>
            </a: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8306218" y="2450689"/>
            <a:ext cx="3100892" cy="12920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集中控制平面维护全网状态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基于全局视图统一决策</a:t>
            </a:r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489386" y="4130339"/>
            <a:ext cx="3488503" cy="2067261"/>
          </a:xfrm>
          <a:prstGeom prst="roundRect">
            <a:avLst>
              <a:gd name="adj" fmla="val 5000"/>
            </a:avLst>
          </a:prstGeom>
          <a:solidFill>
            <a:srgbClr val="044B8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683192" y="4259543"/>
            <a:ext cx="3100892" cy="4522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方法四</a:t>
            </a:r>
            <a:r>
              <a:rPr 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: </a:t>
            </a: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叠加封装法</a:t>
            </a:r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683192" y="4776358"/>
            <a:ext cx="3100892" cy="12920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隧道技术构建虚拟网络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是存量网络虚拟化的核心方法</a:t>
            </a:r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4300899" y="4130339"/>
            <a:ext cx="3488503" cy="2067261"/>
          </a:xfrm>
          <a:prstGeom prst="roundRect">
            <a:avLst>
              <a:gd name="adj" fmla="val 5000"/>
            </a:avLst>
          </a:prstGeom>
          <a:solidFill>
            <a:srgbClr val="044B8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4"/>
            </p:custDataLst>
          </p:nvPr>
        </p:nvSpPr>
        <p:spPr>
          <a:xfrm>
            <a:off x="4494705" y="4259543"/>
            <a:ext cx="3100892" cy="4522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</a:t>
            </a:r>
            <a:r>
              <a:rPr 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五: </a:t>
            </a: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代理增量法</a:t>
            </a:r>
          </a:p>
        </p:txBody>
      </p:sp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4494705" y="4776358"/>
            <a:ext cx="3100892" cy="12920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现有设备加装软件代理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不换硬件即可提升可编程性</a:t>
            </a:r>
          </a:p>
        </p:txBody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8112412" y="4130339"/>
            <a:ext cx="3488503" cy="2067261"/>
          </a:xfrm>
          <a:prstGeom prst="roundRect">
            <a:avLst>
              <a:gd name="adj" fmla="val 5000"/>
            </a:avLst>
          </a:prstGeom>
          <a:solidFill>
            <a:srgbClr val="044B8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17"/>
            </p:custDataLst>
          </p:nvPr>
        </p:nvSpPr>
        <p:spPr>
          <a:xfrm>
            <a:off x="8306218" y="4259543"/>
            <a:ext cx="3100892" cy="4522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方法</a:t>
            </a:r>
            <a:r>
              <a:rPr 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六: </a:t>
            </a:r>
            <a:r>
              <a:rPr lang="zh-CN" altLang="en-US" sz="2400" b="1" i="0" u="none" strike="noStrike" dirty="0">
                <a:solidFill>
                  <a:srgbClr val="044B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意图驱动法</a:t>
            </a:r>
          </a:p>
        </p:txBody>
      </p:sp>
      <p:sp>
        <p:nvSpPr>
          <p:cNvPr id="24" name="AutoShape 24"/>
          <p:cNvSpPr/>
          <p:nvPr>
            <p:custDataLst>
              <p:tags r:id="rId18"/>
            </p:custDataLst>
          </p:nvPr>
        </p:nvSpPr>
        <p:spPr>
          <a:xfrm>
            <a:off x="8306218" y="4842898"/>
            <a:ext cx="3100892" cy="12920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抽象业务需求为高层意图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自动转化为底层网络配置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4.15,&quot;left&quot;:38.8,&quot;top&quot;:119.35,&quot;width&quot;:876.3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5.9000000000001,&quot;left&quot;:36.7,&quot;top&quot;:142.1,&quot;width&quot;:883.497610294117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517</Words>
  <Application>Microsoft Office PowerPoint</Application>
  <PresentationFormat>宽屏</PresentationFormat>
  <Paragraphs>107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Noto Sans SC</vt:lpstr>
      <vt:lpstr>等线</vt:lpstr>
      <vt:lpstr>微软雅黑</vt:lpstr>
      <vt:lpstr>Arial</vt:lpstr>
      <vt:lpstr>Office 主题​​</vt:lpstr>
      <vt:lpstr>自定义主题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id Bocchi</cp:lastModifiedBy>
  <cp:revision>14</cp:revision>
  <dcterms:created xsi:type="dcterms:W3CDTF">2026-09-15T08:09:00Z</dcterms:created>
  <dcterms:modified xsi:type="dcterms:W3CDTF">2026-09-15T15:56:49Z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0BD85EAF84F548B1B84DA3216501AE7C_12</vt:lpwstr>
  </property>
</Properties>
</file>