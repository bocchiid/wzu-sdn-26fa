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4E9E2-B8BC-4F4A-B9F9-988AB5999CE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46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1"/>
              </a:spcBef>
              <a:spcAft>
                <a:spcPct val="1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8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6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3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9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0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7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7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4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85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1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BE62D-7678-476D-8C06-E3FB4C8980E3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6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7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1"/>
                </a:spcBef>
                <a:spcAft>
                  <a:spcPct val="1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1"/>
                </a:spcBef>
                <a:spcAft>
                  <a:spcPct val="1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" name="文本框 13"/>
          <p:cNvSpPr txBox="1"/>
          <p:nvPr/>
        </p:nvSpPr>
        <p:spPr>
          <a:xfrm>
            <a:off x="1900000" y="4620000"/>
            <a:ext cx="8400000" cy="15200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anchor="ctr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OpenFlow 交换机的</a:t>
            </a:r>
            <a:endParaRPr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流表匹配机制与芯片选型</a:t>
            </a:r>
          </a:p>
        </p:txBody>
      </p:sp>
      <p:pic>
        <p:nvPicPr>
          <p:cNvPr id="10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11" name="文本框 54"/>
          <p:cNvSpPr txBox="1"/>
          <p:nvPr/>
        </p:nvSpPr>
        <p:spPr>
          <a:xfrm>
            <a:off x="1911350" y="6159562"/>
            <a:ext cx="836930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en-US" sz="360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3600" b="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b="0" dirty="0" err="1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sz="3600" b="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b="0" dirty="0" err="1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sz="3600" b="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b="0" dirty="0" err="1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  <a:r>
              <a:rPr sz="3600" b="0" dirty="0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b="0" dirty="0" err="1">
                <a:solidFill>
                  <a:srgbClr val="1F2A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55"/>
          <p:cNvSpPr/>
          <p:nvPr/>
        </p:nvSpPr>
        <p:spPr>
          <a:xfrm>
            <a:off x="5150000" y="4140000"/>
            <a:ext cx="1900000" cy="430000"/>
          </a:xfrm>
          <a:prstGeom prst="roundRect">
            <a:avLst>
              <a:gd name="adj" fmla="val 28000"/>
            </a:avLst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研讨主题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1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24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矩形 76"/>
          <p:cNvSpPr/>
          <p:nvPr/>
        </p:nvSpPr>
        <p:spPr>
          <a:xfrm>
            <a:off x="6096000" y="3630402"/>
            <a:ext cx="5156200" cy="58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二、v1.3 流水线匹配</a:t>
            </a:r>
          </a:p>
        </p:txBody>
      </p:sp>
      <p:sp>
        <p:nvSpPr>
          <p:cNvPr id="27" name="矩形 78"/>
          <p:cNvSpPr/>
          <p:nvPr/>
        </p:nvSpPr>
        <p:spPr>
          <a:xfrm>
            <a:off x="6096000" y="4798802"/>
            <a:ext cx="5156200" cy="58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三、芯片性能与选型</a:t>
            </a:r>
          </a:p>
        </p:txBody>
      </p:sp>
      <p:sp>
        <p:nvSpPr>
          <p:cNvPr id="28" name="文本框 23"/>
          <p:cNvSpPr txBox="1"/>
          <p:nvPr/>
        </p:nvSpPr>
        <p:spPr>
          <a:xfrm>
            <a:off x="6083300" y="736600"/>
            <a:ext cx="2705100" cy="12700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1"/>
              </a:spcBef>
              <a:spcAft>
                <a:spcPct val="1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29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30" name="文本框 1"/>
          <p:cNvSpPr txBox="1"/>
          <p:nvPr/>
        </p:nvSpPr>
        <p:spPr>
          <a:xfrm>
            <a:off x="6096000" y="2462002"/>
            <a:ext cx="515620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一、流表项与匹配处理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1"/>
          <p:cNvSpPr txBox="1"/>
          <p:nvPr/>
        </p:nvSpPr>
        <p:spPr>
          <a:xfrm>
            <a:off x="734507" y="381000"/>
            <a:ext cx="8300000" cy="573328"/>
          </a:xfrm>
          <a:prstGeom prst="rect">
            <a:avLst/>
          </a:prstGeom>
          <a:noFill/>
        </p:spPr>
        <p:txBody>
          <a:bodyPr wrap="square" lIns="54864" tIns="0" rIns="54864" bIns="0" anchor="t">
            <a:sp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一、流表项与匹配处理</a:t>
            </a:r>
          </a:p>
        </p:txBody>
      </p:sp>
      <p:sp>
        <p:nvSpPr>
          <p:cNvPr id="33" name="Rectangle 2"/>
          <p:cNvSpPr/>
          <p:nvPr/>
        </p:nvSpPr>
        <p:spPr>
          <a:xfrm>
            <a:off x="584507" y="482600"/>
            <a:ext cx="84000" cy="381328"/>
          </a:xfrm>
          <a:prstGeom prst="rect">
            <a:avLst/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4" name="Rectangle 4"/>
          <p:cNvSpPr/>
          <p:nvPr/>
        </p:nvSpPr>
        <p:spPr>
          <a:xfrm>
            <a:off x="584507" y="1117600"/>
            <a:ext cx="11022986" cy="14000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5" name="矩形 34"/>
          <p:cNvSpPr/>
          <p:nvPr/>
        </p:nvSpPr>
        <p:spPr>
          <a:xfrm>
            <a:off x="583893" y="1603829"/>
            <a:ext cx="11023600" cy="3810000"/>
          </a:xfrm>
          <a:prstGeom prst="rect">
            <a:avLst/>
          </a:prstGeom>
          <a:ln w="15875">
            <a:solidFill>
              <a:srgbClr val="044B89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6" name="矩形 35"/>
          <p:cNvSpPr/>
          <p:nvPr/>
        </p:nvSpPr>
        <p:spPr>
          <a:xfrm>
            <a:off x="583893" y="1603829"/>
            <a:ext cx="2946400" cy="406400"/>
          </a:xfrm>
          <a:prstGeom prst="rect">
            <a:avLst/>
          </a:prstGeom>
          <a:solidFill>
            <a:srgbClr val="044B89"/>
          </a:solidFill>
          <a:ln w="9525">
            <a:solidFill>
              <a:srgbClr val="044B89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7" name="矩形 36"/>
          <p:cNvSpPr/>
          <p:nvPr/>
        </p:nvSpPr>
        <p:spPr>
          <a:xfrm>
            <a:off x="736293" y="1667329"/>
            <a:ext cx="2717800" cy="279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一个流表项 = 三个域</a:t>
            </a:r>
            <a:endParaRPr sz="2000" dirty="0"/>
          </a:p>
        </p:txBody>
      </p:sp>
      <p:sp>
        <p:nvSpPr>
          <p:cNvPr id="38" name="矩形 37"/>
          <p:cNvSpPr/>
          <p:nvPr/>
        </p:nvSpPr>
        <p:spPr>
          <a:xfrm>
            <a:off x="787093" y="2162629"/>
            <a:ext cx="3505200" cy="584200"/>
          </a:xfrm>
          <a:prstGeom prst="rect">
            <a:avLst/>
          </a:prstGeom>
          <a:solidFill>
            <a:srgbClr val="044B89"/>
          </a:solidFill>
          <a:ln w="9525">
            <a:solidFill>
              <a:srgbClr val="044B89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9" name="矩形 38"/>
          <p:cNvSpPr/>
          <p:nvPr/>
        </p:nvSpPr>
        <p:spPr>
          <a:xfrm>
            <a:off x="787093" y="2746829"/>
            <a:ext cx="3505200" cy="261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0" name="矩形 39"/>
          <p:cNvSpPr/>
          <p:nvPr/>
        </p:nvSpPr>
        <p:spPr>
          <a:xfrm>
            <a:off x="4419293" y="2162629"/>
            <a:ext cx="3505200" cy="584200"/>
          </a:xfrm>
          <a:prstGeom prst="rect">
            <a:avLst/>
          </a:prstGeom>
          <a:solidFill>
            <a:srgbClr val="1D6FA9"/>
          </a:solidFill>
          <a:ln w="9525">
            <a:solidFill>
              <a:srgbClr val="1D6FA9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1" name="矩形 40"/>
          <p:cNvSpPr/>
          <p:nvPr/>
        </p:nvSpPr>
        <p:spPr>
          <a:xfrm>
            <a:off x="4419293" y="2746829"/>
            <a:ext cx="3505200" cy="261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2" name="矩形 41"/>
          <p:cNvSpPr/>
          <p:nvPr/>
        </p:nvSpPr>
        <p:spPr>
          <a:xfrm>
            <a:off x="8051493" y="2162629"/>
            <a:ext cx="3505200" cy="584200"/>
          </a:xfrm>
          <a:prstGeom prst="rect">
            <a:avLst/>
          </a:prstGeom>
          <a:solidFill>
            <a:srgbClr val="D08A12"/>
          </a:solidFill>
          <a:ln w="9525">
            <a:solidFill>
              <a:srgbClr val="D08A12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3" name="矩形 42"/>
          <p:cNvSpPr/>
          <p:nvPr/>
        </p:nvSpPr>
        <p:spPr>
          <a:xfrm>
            <a:off x="8051493" y="2746829"/>
            <a:ext cx="3505200" cy="261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4" name="矩形 43"/>
          <p:cNvSpPr/>
          <p:nvPr/>
        </p:nvSpPr>
        <p:spPr>
          <a:xfrm>
            <a:off x="914093" y="2264229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① 包头域 Head Fields</a:t>
            </a:r>
            <a:endParaRPr sz="2000" dirty="0"/>
          </a:p>
        </p:txBody>
      </p:sp>
      <p:sp>
        <p:nvSpPr>
          <p:cNvPr id="45" name="矩形 44"/>
          <p:cNvSpPr/>
          <p:nvPr/>
        </p:nvSpPr>
        <p:spPr>
          <a:xfrm>
            <a:off x="914093" y="2848429"/>
            <a:ext cx="3251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dirty="0">
                <a:solidFill>
                  <a:srgbClr val="5A6675"/>
                </a:solidFill>
                <a:latin typeface="微软雅黑"/>
                <a:ea typeface="微软雅黑"/>
              </a:rPr>
              <a:t>界定哪些报文属于该流</a:t>
            </a:r>
            <a:endParaRPr sz="2000" dirty="0"/>
          </a:p>
        </p:txBody>
      </p:sp>
      <p:sp>
        <p:nvSpPr>
          <p:cNvPr id="46" name="矩形 45"/>
          <p:cNvSpPr/>
          <p:nvPr/>
        </p:nvSpPr>
        <p:spPr>
          <a:xfrm>
            <a:off x="4546293" y="2264229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0">
                <a:solidFill>
                  <a:srgbClr val="FFFFFF"/>
                </a:solidFill>
                <a:latin typeface="微软雅黑"/>
                <a:ea typeface="微软雅黑"/>
              </a:rPr>
              <a:t>② 计数器 Counters</a:t>
            </a:r>
          </a:p>
        </p:txBody>
      </p:sp>
      <p:sp>
        <p:nvSpPr>
          <p:cNvPr id="47" name="矩形 46"/>
          <p:cNvSpPr/>
          <p:nvPr/>
        </p:nvSpPr>
        <p:spPr>
          <a:xfrm>
            <a:off x="4546293" y="2848429"/>
            <a:ext cx="3251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5A6675"/>
                </a:solidFill>
                <a:latin typeface="微软雅黑"/>
                <a:ea typeface="微软雅黑"/>
              </a:rPr>
              <a:t>命中即更新，度量流量</a:t>
            </a:r>
            <a:endParaRPr sz="2000"/>
          </a:p>
        </p:txBody>
      </p:sp>
      <p:sp>
        <p:nvSpPr>
          <p:cNvPr id="48" name="矩形 47"/>
          <p:cNvSpPr/>
          <p:nvPr/>
        </p:nvSpPr>
        <p:spPr>
          <a:xfrm>
            <a:off x="8178493" y="2264229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0">
                <a:solidFill>
                  <a:srgbClr val="FFFFFF"/>
                </a:solidFill>
                <a:latin typeface="微软雅黑"/>
                <a:ea typeface="微软雅黑"/>
              </a:rPr>
              <a:t>③ 动作表 Actions</a:t>
            </a:r>
          </a:p>
        </p:txBody>
      </p:sp>
      <p:sp>
        <p:nvSpPr>
          <p:cNvPr id="49" name="矩形 48"/>
          <p:cNvSpPr/>
          <p:nvPr/>
        </p:nvSpPr>
        <p:spPr>
          <a:xfrm>
            <a:off x="8178493" y="2848429"/>
            <a:ext cx="3251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5A6675"/>
                </a:solidFill>
                <a:latin typeface="微软雅黑"/>
                <a:ea typeface="微软雅黑"/>
              </a:rPr>
              <a:t>决定命中报文的处理</a:t>
            </a:r>
            <a:endParaRPr sz="2000"/>
          </a:p>
        </p:txBody>
      </p:sp>
      <p:sp>
        <p:nvSpPr>
          <p:cNvPr id="50" name="矩形 49"/>
          <p:cNvSpPr/>
          <p:nvPr/>
        </p:nvSpPr>
        <p:spPr>
          <a:xfrm>
            <a:off x="583893" y="5617029"/>
            <a:ext cx="11023600" cy="584200"/>
          </a:xfrm>
          <a:prstGeom prst="rect">
            <a:avLst/>
          </a:prstGeom>
          <a:solidFill>
            <a:srgbClr val="FDF3E0"/>
          </a:solidFill>
          <a:ln w="9525">
            <a:solidFill>
              <a:srgbClr val="D08A12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51" name="矩形 50"/>
          <p:cNvSpPr/>
          <p:nvPr/>
        </p:nvSpPr>
        <p:spPr>
          <a:xfrm>
            <a:off x="583893" y="5617029"/>
            <a:ext cx="76200" cy="584200"/>
          </a:xfrm>
          <a:prstGeom prst="rect">
            <a:avLst/>
          </a:prstGeom>
          <a:solidFill>
            <a:srgbClr val="D08A12"/>
          </a:solidFill>
          <a:ln w="9525">
            <a:solidFill>
              <a:srgbClr val="D08A12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52" name="矩形 51"/>
          <p:cNvSpPr/>
          <p:nvPr/>
        </p:nvSpPr>
        <p:spPr>
          <a:xfrm>
            <a:off x="787093" y="5744029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1F2A37"/>
                </a:solidFill>
                <a:latin typeface="微软雅黑"/>
                <a:ea typeface="微软雅黑"/>
              </a:rPr>
              <a:t>流表项 = 包头域 + 计数器 + 动作表：先匹配、再统计、后处置</a:t>
            </a:r>
            <a:r>
              <a:rPr lang="zh-CN" sz="2400" baseline="3000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 sz="2000"/>
          </a:p>
        </p:txBody>
      </p:sp>
      <p:sp>
        <p:nvSpPr>
          <p:cNvPr id="53" name="矩形 52"/>
          <p:cNvSpPr/>
          <p:nvPr/>
        </p:nvSpPr>
        <p:spPr>
          <a:xfrm>
            <a:off x="914093" y="3204029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涵盖链路层、网络层、</a:t>
            </a:r>
            <a:r>
              <a:rPr lang="zh-CN" sz="2000" baseline="30000" dirty="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传输层标识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12 元组：入端口、Eth、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VLAN、IP、L4 端口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精确匹配 / ANY 通配 /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IP 前缀掩码</a:t>
            </a:r>
            <a:endParaRPr sz="2000" dirty="0"/>
          </a:p>
        </p:txBody>
      </p:sp>
      <p:sp>
        <p:nvSpPr>
          <p:cNvPr id="54" name="矩形 53"/>
          <p:cNvSpPr/>
          <p:nvPr/>
        </p:nvSpPr>
        <p:spPr>
          <a:xfrm>
            <a:off x="4546293" y="3204029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四类粒度：表 / 流表项 /</a:t>
            </a:r>
            <a:r>
              <a:rPr lang="zh-CN" sz="2000" baseline="30000" dirty="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端口 / 队列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各粒度统计项不同：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表项含收发包数、字节数、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持续时间</a:t>
            </a:r>
            <a:endParaRPr sz="2000" dirty="0"/>
          </a:p>
          <a:p>
            <a:r>
              <a:rPr lang="zh-CN" sz="2000" dirty="0">
                <a:solidFill>
                  <a:srgbClr val="1F2A37"/>
                </a:solidFill>
                <a:latin typeface="微软雅黑"/>
                <a:ea typeface="微软雅黑"/>
              </a:rPr>
              <a:t>端口另含错误计数</a:t>
            </a:r>
            <a:endParaRPr sz="2000" dirty="0"/>
          </a:p>
        </p:txBody>
      </p:sp>
      <p:sp>
        <p:nvSpPr>
          <p:cNvPr id="55" name="矩形 54"/>
          <p:cNvSpPr/>
          <p:nvPr/>
        </p:nvSpPr>
        <p:spPr>
          <a:xfrm>
            <a:off x="8178493" y="3204029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有序动作列表，按序执行</a:t>
            </a:r>
            <a:r>
              <a:rPr lang="zh-CN" sz="2000" baseline="3000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 sz="2000"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转发到端口 / ALL /</a:t>
            </a:r>
            <a:endParaRPr sz="2000"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CONTROLLER</a:t>
            </a:r>
            <a:endParaRPr sz="2000"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改写 VLAN、MAC、IP、ToS</a:t>
            </a:r>
            <a:endParaRPr sz="2000"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无转发动作则默认丢弃</a:t>
            </a:r>
            <a:endParaRPr sz="20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 txBox="1"/>
          <p:nvPr/>
        </p:nvSpPr>
        <p:spPr>
          <a:xfrm>
            <a:off x="734507" y="381000"/>
            <a:ext cx="8300000" cy="573328"/>
          </a:xfrm>
          <a:prstGeom prst="rect">
            <a:avLst/>
          </a:prstGeom>
          <a:noFill/>
        </p:spPr>
        <p:txBody>
          <a:bodyPr wrap="square" lIns="54864" tIns="0" rIns="54864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一、流表项与匹配处理</a:t>
            </a:r>
          </a:p>
        </p:txBody>
      </p:sp>
      <p:sp>
        <p:nvSpPr>
          <p:cNvPr id="58" name="Rectangle 2"/>
          <p:cNvSpPr/>
          <p:nvPr/>
        </p:nvSpPr>
        <p:spPr>
          <a:xfrm>
            <a:off x="584507" y="482600"/>
            <a:ext cx="84000" cy="381328"/>
          </a:xfrm>
          <a:prstGeom prst="rect">
            <a:avLst/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59" name="Rectangle 4"/>
          <p:cNvSpPr/>
          <p:nvPr/>
        </p:nvSpPr>
        <p:spPr>
          <a:xfrm>
            <a:off x="584507" y="1117600"/>
            <a:ext cx="11022986" cy="14000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pic>
        <p:nvPicPr>
          <p:cNvPr id="60" name="图片 60"/>
          <p:cNvPicPr/>
          <p:nvPr/>
        </p:nvPicPr>
        <p:blipFill>
          <a:blip r:embed="rId2"/>
          <a:stretch>
            <a:fillRect/>
          </a:stretch>
        </p:blipFill>
        <p:spPr>
          <a:xfrm>
            <a:off x="584200" y="1270000"/>
            <a:ext cx="11023600" cy="3276600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584200" y="4724400"/>
            <a:ext cx="3543300" cy="16256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矩形 61"/>
          <p:cNvSpPr/>
          <p:nvPr/>
        </p:nvSpPr>
        <p:spPr>
          <a:xfrm>
            <a:off x="584200" y="4724400"/>
            <a:ext cx="3543300" cy="482600"/>
          </a:xfrm>
          <a:prstGeom prst="rect">
            <a:avLst/>
          </a:prstGeom>
          <a:solidFill>
            <a:srgbClr val="044B89"/>
          </a:solidFill>
          <a:ln w="9525">
            <a:solidFill>
              <a:srgbClr val="044B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矩形 62"/>
          <p:cNvSpPr/>
          <p:nvPr/>
        </p:nvSpPr>
        <p:spPr>
          <a:xfrm>
            <a:off x="4330700" y="4724400"/>
            <a:ext cx="3543300" cy="16256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矩形 63"/>
          <p:cNvSpPr/>
          <p:nvPr/>
        </p:nvSpPr>
        <p:spPr>
          <a:xfrm>
            <a:off x="4330700" y="4724400"/>
            <a:ext cx="3543300" cy="482600"/>
          </a:xfrm>
          <a:prstGeom prst="rect">
            <a:avLst/>
          </a:prstGeom>
          <a:solidFill>
            <a:srgbClr val="1D6FA9"/>
          </a:solidFill>
          <a:ln w="9525">
            <a:solidFill>
              <a:srgbClr val="1D6F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矩形 64"/>
          <p:cNvSpPr/>
          <p:nvPr/>
        </p:nvSpPr>
        <p:spPr>
          <a:xfrm>
            <a:off x="8064500" y="4724400"/>
            <a:ext cx="3543300" cy="16256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矩形 65"/>
          <p:cNvSpPr/>
          <p:nvPr/>
        </p:nvSpPr>
        <p:spPr>
          <a:xfrm>
            <a:off x="8064500" y="4724400"/>
            <a:ext cx="3543300" cy="482600"/>
          </a:xfrm>
          <a:prstGeom prst="rect">
            <a:avLst/>
          </a:prstGeom>
          <a:solidFill>
            <a:srgbClr val="D08A12"/>
          </a:solidFill>
          <a:ln w="9525">
            <a:solidFill>
              <a:srgbClr val="D08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矩形 66"/>
          <p:cNvSpPr/>
          <p:nvPr/>
        </p:nvSpPr>
        <p:spPr>
          <a:xfrm>
            <a:off x="762000" y="4813300"/>
            <a:ext cx="3187700" cy="33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  <a:latin typeface="微软雅黑"/>
                <a:ea typeface="微软雅黑"/>
              </a:rPr>
              <a:t>匹配判定</a:t>
            </a:r>
            <a:endParaRPr/>
          </a:p>
        </p:txBody>
      </p:sp>
      <p:sp>
        <p:nvSpPr>
          <p:cNvPr id="68" name="矩形 67"/>
          <p:cNvSpPr/>
          <p:nvPr/>
        </p:nvSpPr>
        <p:spPr>
          <a:xfrm>
            <a:off x="762000" y="5308600"/>
            <a:ext cx="31877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 dirty="0">
                <a:solidFill>
                  <a:srgbClr val="1F2A37"/>
                </a:solidFill>
                <a:latin typeface="微软雅黑"/>
                <a:ea typeface="微软雅黑"/>
              </a:rPr>
              <a:t>所有非通配字段均</a:t>
            </a:r>
            <a:endParaRPr dirty="0"/>
          </a:p>
          <a:p>
            <a:r>
              <a:rPr lang="zh-CN" sz="2200" dirty="0">
                <a:solidFill>
                  <a:srgbClr val="1F2A37"/>
                </a:solidFill>
                <a:latin typeface="微软雅黑"/>
                <a:ea typeface="微软雅黑"/>
              </a:rPr>
              <a:t>符合即命中</a:t>
            </a:r>
            <a:r>
              <a:rPr lang="zh-CN" sz="2200" baseline="30000" dirty="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 dirty="0"/>
          </a:p>
        </p:txBody>
      </p:sp>
      <p:sp>
        <p:nvSpPr>
          <p:cNvPr id="69" name="矩形 68"/>
          <p:cNvSpPr/>
          <p:nvPr/>
        </p:nvSpPr>
        <p:spPr>
          <a:xfrm>
            <a:off x="4508500" y="4813300"/>
            <a:ext cx="3187700" cy="33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  <a:latin typeface="微软雅黑"/>
                <a:ea typeface="微软雅黑"/>
              </a:rPr>
              <a:t>计数器更新时机</a:t>
            </a:r>
            <a:endParaRPr/>
          </a:p>
        </p:txBody>
      </p:sp>
      <p:sp>
        <p:nvSpPr>
          <p:cNvPr id="70" name="矩形 69"/>
          <p:cNvSpPr/>
          <p:nvPr/>
        </p:nvSpPr>
        <p:spPr>
          <a:xfrm>
            <a:off x="4508500" y="5308600"/>
            <a:ext cx="31877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命中后先更新该</a:t>
            </a:r>
            <a:endParaRPr/>
          </a:p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表项计数器</a:t>
            </a:r>
            <a:r>
              <a:rPr lang="zh-CN" sz="2200" baseline="3000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/>
          </a:p>
        </p:txBody>
      </p:sp>
      <p:sp>
        <p:nvSpPr>
          <p:cNvPr id="71" name="矩形 70"/>
          <p:cNvSpPr/>
          <p:nvPr/>
        </p:nvSpPr>
        <p:spPr>
          <a:xfrm>
            <a:off x="8242300" y="4813300"/>
            <a:ext cx="3187700" cy="33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  <a:latin typeface="微软雅黑"/>
                <a:ea typeface="微软雅黑"/>
              </a:rPr>
              <a:t>未命中处理</a:t>
            </a:r>
            <a:endParaRPr/>
          </a:p>
        </p:txBody>
      </p:sp>
      <p:sp>
        <p:nvSpPr>
          <p:cNvPr id="72" name="矩形 71"/>
          <p:cNvSpPr/>
          <p:nvPr/>
        </p:nvSpPr>
        <p:spPr>
          <a:xfrm>
            <a:off x="8242300" y="5308600"/>
            <a:ext cx="31877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上送控制器，由控制器</a:t>
            </a:r>
            <a:endParaRPr/>
          </a:p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下发流表项</a:t>
            </a:r>
            <a:r>
              <a:rPr lang="zh-CN" sz="2200" baseline="30000">
                <a:solidFill>
                  <a:srgbClr val="1F2A37"/>
                </a:solidFill>
                <a:latin typeface="微软雅黑"/>
                <a:ea typeface="微软雅黑"/>
              </a:rPr>
              <a:t>[2]</a:t>
            </a:r>
            <a:endParaRPr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 txBox="1"/>
          <p:nvPr/>
        </p:nvSpPr>
        <p:spPr>
          <a:xfrm>
            <a:off x="734507" y="381000"/>
            <a:ext cx="8300000" cy="573328"/>
          </a:xfrm>
          <a:prstGeom prst="rect">
            <a:avLst/>
          </a:prstGeom>
          <a:noFill/>
        </p:spPr>
        <p:txBody>
          <a:bodyPr wrap="square" lIns="54864" tIns="0" rIns="54864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二、v1.3 流水线匹配</a:t>
            </a:r>
          </a:p>
        </p:txBody>
      </p:sp>
      <p:sp>
        <p:nvSpPr>
          <p:cNvPr id="75" name="Rectangle 2"/>
          <p:cNvSpPr/>
          <p:nvPr/>
        </p:nvSpPr>
        <p:spPr>
          <a:xfrm>
            <a:off x="584507" y="482600"/>
            <a:ext cx="84000" cy="381328"/>
          </a:xfrm>
          <a:prstGeom prst="rect">
            <a:avLst/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6" name="Rectangle 4"/>
          <p:cNvSpPr/>
          <p:nvPr/>
        </p:nvSpPr>
        <p:spPr>
          <a:xfrm>
            <a:off x="584507" y="1117600"/>
            <a:ext cx="11022986" cy="14000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7" name="Rounded Rectangle 81"/>
          <p:cNvSpPr/>
          <p:nvPr/>
        </p:nvSpPr>
        <p:spPr>
          <a:xfrm>
            <a:off x="584200" y="3937000"/>
            <a:ext cx="5359400" cy="13462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82"/>
          <p:cNvSpPr/>
          <p:nvPr/>
        </p:nvSpPr>
        <p:spPr>
          <a:xfrm>
            <a:off x="584200" y="3937000"/>
            <a:ext cx="101600" cy="1346200"/>
          </a:xfrm>
          <a:prstGeom prst="roundRect">
            <a:avLst>
              <a:gd name="adj" fmla="val 45000"/>
            </a:avLst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84"/>
          <p:cNvSpPr/>
          <p:nvPr/>
        </p:nvSpPr>
        <p:spPr>
          <a:xfrm>
            <a:off x="6248400" y="3937000"/>
            <a:ext cx="5359400" cy="13462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85"/>
          <p:cNvSpPr/>
          <p:nvPr/>
        </p:nvSpPr>
        <p:spPr>
          <a:xfrm>
            <a:off x="6248400" y="3937000"/>
            <a:ext cx="101600" cy="1346200"/>
          </a:xfrm>
          <a:prstGeom prst="roundRect">
            <a:avLst>
              <a:gd name="adj" fmla="val 45000"/>
            </a:avLst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7"/>
          <p:cNvSpPr/>
          <p:nvPr/>
        </p:nvSpPr>
        <p:spPr>
          <a:xfrm>
            <a:off x="584200" y="5359400"/>
            <a:ext cx="11023600" cy="13970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8"/>
          <p:cNvSpPr/>
          <p:nvPr/>
        </p:nvSpPr>
        <p:spPr>
          <a:xfrm>
            <a:off x="584200" y="5359400"/>
            <a:ext cx="101600" cy="1397000"/>
          </a:xfrm>
          <a:prstGeom prst="roundRect">
            <a:avLst>
              <a:gd name="adj" fmla="val 45000"/>
            </a:avLst>
          </a:prstGeom>
          <a:solidFill>
            <a:srgbClr val="36A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图片 82"/>
          <p:cNvPicPr/>
          <p:nvPr/>
        </p:nvPicPr>
        <p:blipFill>
          <a:blip r:embed="rId2"/>
          <a:stretch/>
        </p:blipFill>
        <p:spPr>
          <a:xfrm>
            <a:off x="584200" y="1473200"/>
            <a:ext cx="11023600" cy="23622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>
          <a:xfrm>
            <a:off x="749300" y="4064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044B89"/>
                </a:solidFill>
                <a:latin typeface="微软雅黑"/>
                <a:ea typeface="微软雅黑"/>
              </a:rPr>
              <a:t>流水线匹配与逐表处理</a:t>
            </a:r>
            <a:endParaRPr/>
          </a:p>
        </p:txBody>
      </p:sp>
      <p:sp>
        <p:nvSpPr>
          <p:cNvPr id="85" name="矩形 84"/>
          <p:cNvSpPr/>
          <p:nvPr/>
        </p:nvSpPr>
        <p:spPr>
          <a:xfrm>
            <a:off x="6413500" y="4064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1D6FA9"/>
                </a:solidFill>
                <a:latin typeface="微软雅黑"/>
                <a:ea typeface="微软雅黑"/>
              </a:rPr>
              <a:t>v1.3 流表项六要素</a:t>
            </a:r>
            <a:endParaRPr/>
          </a:p>
        </p:txBody>
      </p:sp>
      <p:sp>
        <p:nvSpPr>
          <p:cNvPr id="86" name="矩形 85"/>
          <p:cNvSpPr/>
          <p:nvPr/>
        </p:nvSpPr>
        <p:spPr>
          <a:xfrm>
            <a:off x="6413500" y="4445000"/>
            <a:ext cx="5080000" cy="736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匹配域、优先级、计数器</a:t>
            </a:r>
            <a:r>
              <a:rPr lang="zh-CN" sz="2200" baseline="30000">
                <a:solidFill>
                  <a:srgbClr val="1F2A37"/>
                </a:solidFill>
                <a:latin typeface="微软雅黑"/>
                <a:ea typeface="微软雅黑"/>
              </a:rPr>
              <a:t>[3]</a:t>
            </a:r>
            <a:endParaRPr/>
          </a:p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指令、超时、cookie</a:t>
            </a:r>
            <a:endParaRPr/>
          </a:p>
        </p:txBody>
      </p:sp>
      <p:sp>
        <p:nvSpPr>
          <p:cNvPr id="87" name="矩形 86"/>
          <p:cNvSpPr/>
          <p:nvPr/>
        </p:nvSpPr>
        <p:spPr>
          <a:xfrm>
            <a:off x="749300" y="5448300"/>
            <a:ext cx="108712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36AFCE"/>
                </a:solidFill>
                <a:latin typeface="微软雅黑"/>
                <a:ea typeface="微软雅黑"/>
              </a:rPr>
              <a:t>指令与跳转规则（规范 5.9 / 5.10）</a:t>
            </a:r>
            <a:endParaRPr/>
          </a:p>
        </p:txBody>
      </p:sp>
      <p:sp>
        <p:nvSpPr>
          <p:cNvPr id="88" name="矩形 87"/>
          <p:cNvSpPr/>
          <p:nvPr/>
        </p:nvSpPr>
        <p:spPr>
          <a:xfrm>
            <a:off x="749300" y="4445000"/>
            <a:ext cx="5080000" cy="736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报文自 Table 0 起，每表三步：</a:t>
            </a:r>
            <a:r>
              <a:rPr lang="zh-CN" sz="2200" baseline="30000">
                <a:solidFill>
                  <a:srgbClr val="1F2A37"/>
                </a:solidFill>
                <a:latin typeface="微软雅黑"/>
                <a:ea typeface="微软雅黑"/>
              </a:rPr>
              <a:t>[3]</a:t>
            </a:r>
            <a:endParaRPr/>
          </a:p>
          <a:p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匹配表项 → 更新计数器 → 执行指令</a:t>
            </a:r>
            <a:endParaRPr/>
          </a:p>
        </p:txBody>
      </p:sp>
      <p:sp>
        <p:nvSpPr>
          <p:cNvPr id="89" name="矩形 88"/>
          <p:cNvSpPr/>
          <p:nvPr/>
        </p:nvSpPr>
        <p:spPr>
          <a:xfrm>
            <a:off x="749300" y="5765800"/>
            <a:ext cx="108712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Goto-Table 只能跳到编号更大的表；Write-Actions 将动作合并进 Action Set</a:t>
            </a:r>
            <a:r>
              <a:rPr lang="zh-CN" sz="2000" baseline="30000">
                <a:solidFill>
                  <a:srgbClr val="1F2A37"/>
                </a:solidFill>
                <a:latin typeface="微软雅黑"/>
                <a:ea typeface="微软雅黑"/>
              </a:rPr>
              <a:t>[3]</a:t>
            </a:r>
            <a:endParaRPr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Table-miss 表项（全通配、优先级 0）：丢弃 / 上送控制器 / 跳下一表</a:t>
            </a:r>
            <a:r>
              <a:rPr lang="zh-CN" sz="2000" baseline="30000">
                <a:solidFill>
                  <a:srgbClr val="1F2A37"/>
                </a:solidFill>
                <a:latin typeface="微软雅黑"/>
                <a:ea typeface="微软雅黑"/>
              </a:rPr>
              <a:t>[3]</a:t>
            </a:r>
            <a:endParaRPr/>
          </a:p>
          <a:p>
            <a:r>
              <a:rPr lang="zh-CN" sz="2000">
                <a:solidFill>
                  <a:srgbClr val="1F2A37"/>
                </a:solidFill>
                <a:latin typeface="微软雅黑"/>
                <a:ea typeface="微软雅黑"/>
              </a:rPr>
              <a:t>指令集不含 Goto-Table 时流水线结束，随即执行 Action Set</a:t>
            </a:r>
            <a:r>
              <a:rPr lang="zh-CN" sz="2000" baseline="30000">
                <a:solidFill>
                  <a:srgbClr val="1F2A37"/>
                </a:solidFill>
                <a:latin typeface="微软雅黑"/>
                <a:ea typeface="微软雅黑"/>
              </a:rPr>
              <a:t>[3]</a:t>
            </a:r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 txBox="1"/>
          <p:nvPr/>
        </p:nvSpPr>
        <p:spPr>
          <a:xfrm>
            <a:off x="734507" y="381000"/>
            <a:ext cx="8300000" cy="573328"/>
          </a:xfrm>
          <a:prstGeom prst="rect">
            <a:avLst/>
          </a:prstGeom>
          <a:noFill/>
        </p:spPr>
        <p:txBody>
          <a:bodyPr wrap="square" lIns="54864" tIns="0" rIns="54864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 u="none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三、芯片性能与选型</a:t>
            </a:r>
          </a:p>
        </p:txBody>
      </p:sp>
      <p:sp>
        <p:nvSpPr>
          <p:cNvPr id="92" name="Rectangle 2"/>
          <p:cNvSpPr/>
          <p:nvPr/>
        </p:nvSpPr>
        <p:spPr>
          <a:xfrm>
            <a:off x="584507" y="482600"/>
            <a:ext cx="84000" cy="381328"/>
          </a:xfrm>
          <a:prstGeom prst="rect">
            <a:avLst/>
          </a:prstGeom>
          <a:solidFill>
            <a:srgbClr val="044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3" name="Rectangle 4"/>
          <p:cNvSpPr/>
          <p:nvPr/>
        </p:nvSpPr>
        <p:spPr>
          <a:xfrm>
            <a:off x="584507" y="1117600"/>
            <a:ext cx="11022986" cy="14000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graphicFrame>
        <p:nvGraphicFramePr>
          <p:cNvPr id="94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482264"/>
              </p:ext>
            </p:extLst>
          </p:nvPr>
        </p:nvGraphicFramePr>
        <p:xfrm>
          <a:off x="584507" y="1574800"/>
          <a:ext cx="11023600" cy="341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指标类别</a:t>
                      </a:r>
                      <a:endParaRPr dirty="0"/>
                    </a:p>
                  </a:txBody>
                  <a:tcPr marL="54864" marR="54864" marT="18288" marB="18288" anchor="ctr"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典型取值 / 依据（来源）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对选型的影响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转发性能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交换容量、包转发率、转发时延；硬件转发时延中位数约 2.5 µs</a:t>
                      </a:r>
                      <a:r>
                        <a:rPr lang="en-US" sz="2200" b="1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决定能否线速转发与满足时延敏感业务</a:t>
                      </a:r>
                      <a:endParaRPr dirty="0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表资源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流表容量、表级数、表项更新率；取决于</a:t>
                      </a:r>
                      <a:r>
                        <a:rPr lang="en-US" sz="2200" b="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TCAM </a:t>
                      </a:r>
                      <a:r>
                        <a:rPr lang="en-US" sz="2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规模与更新机制</a:t>
                      </a:r>
                      <a:r>
                        <a:rPr lang="en-US" sz="2200" b="0" baseline="3000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[3,6]</a:t>
                      </a:r>
                      <a:endParaRPr dirty="0"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不足则流表溢出、回退控制器，影响收敛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可编程性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固定功能 ASIC 与可编程交换 ASIC / P4 目标</a:t>
                      </a:r>
                      <a:r>
                        <a:rPr lang="en-US" sz="2200" b="0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决定能否支持新协议与在网遥测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补充参考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r>
                        <a:rPr lang="en-US" sz="2200" b="1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  <a:r>
                        <a:rPr lang="en-US" sz="22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所用 ASIC 支持最高 1.28 Tb/s 吞吐、32k 条 TCAM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反映单芯片的容量与表资源量级</a:t>
                      </a:r>
                      <a:endParaRPr dirty="0"/>
                    </a:p>
                  </a:txBody>
                  <a:tcPr marL="54864" marR="54864" marT="18288" marB="18288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95" name="矩形 94"/>
          <p:cNvSpPr/>
          <p:nvPr/>
        </p:nvSpPr>
        <p:spPr>
          <a:xfrm>
            <a:off x="584507" y="58420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900" dirty="0">
                <a:solidFill>
                  <a:srgbClr val="044B89"/>
                </a:solidFill>
                <a:latin typeface="微软雅黑"/>
                <a:ea typeface="微软雅黑"/>
              </a:rPr>
              <a:t>选型五步</a:t>
            </a:r>
          </a:p>
        </p:txBody>
      </p:sp>
      <p:sp>
        <p:nvSpPr>
          <p:cNvPr id="96" name="矩形 95"/>
          <p:cNvSpPr/>
          <p:nvPr/>
        </p:nvSpPr>
        <p:spPr>
          <a:xfrm>
            <a:off x="1905307" y="5664200"/>
            <a:ext cx="1854200" cy="431800"/>
          </a:xfrm>
          <a:prstGeom prst="rect">
            <a:avLst/>
          </a:prstGeom>
          <a:solidFill>
            <a:srgbClr val="044B89"/>
          </a:solidFill>
          <a:ln w="9525">
            <a:solidFill>
              <a:srgbClr val="044B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矩形 96"/>
          <p:cNvSpPr/>
          <p:nvPr/>
        </p:nvSpPr>
        <p:spPr>
          <a:xfrm>
            <a:off x="1905307" y="6096000"/>
            <a:ext cx="1854200" cy="3810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矩形 97"/>
          <p:cNvSpPr/>
          <p:nvPr/>
        </p:nvSpPr>
        <p:spPr>
          <a:xfrm>
            <a:off x="3861107" y="5664200"/>
            <a:ext cx="1854200" cy="431800"/>
          </a:xfrm>
          <a:prstGeom prst="rect">
            <a:avLst/>
          </a:prstGeom>
          <a:solidFill>
            <a:srgbClr val="1D6FA9"/>
          </a:solidFill>
          <a:ln w="9525">
            <a:solidFill>
              <a:srgbClr val="1D6F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矩形 98"/>
          <p:cNvSpPr/>
          <p:nvPr/>
        </p:nvSpPr>
        <p:spPr>
          <a:xfrm>
            <a:off x="3861107" y="6096000"/>
            <a:ext cx="1854200" cy="3810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矩形 99"/>
          <p:cNvSpPr/>
          <p:nvPr/>
        </p:nvSpPr>
        <p:spPr>
          <a:xfrm>
            <a:off x="5816907" y="5664200"/>
            <a:ext cx="1854200" cy="431800"/>
          </a:xfrm>
          <a:prstGeom prst="rect">
            <a:avLst/>
          </a:prstGeom>
          <a:solidFill>
            <a:srgbClr val="36AFCE"/>
          </a:solidFill>
          <a:ln w="9525">
            <a:solidFill>
              <a:srgbClr val="36AF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矩形 100"/>
          <p:cNvSpPr/>
          <p:nvPr/>
        </p:nvSpPr>
        <p:spPr>
          <a:xfrm>
            <a:off x="5816907" y="6096000"/>
            <a:ext cx="1854200" cy="3810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矩形 101"/>
          <p:cNvSpPr/>
          <p:nvPr/>
        </p:nvSpPr>
        <p:spPr>
          <a:xfrm>
            <a:off x="7772707" y="5664200"/>
            <a:ext cx="1854200" cy="431800"/>
          </a:xfrm>
          <a:prstGeom prst="rect">
            <a:avLst/>
          </a:prstGeom>
          <a:solidFill>
            <a:srgbClr val="1D6FA9"/>
          </a:solidFill>
          <a:ln w="9525">
            <a:solidFill>
              <a:srgbClr val="1D6F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矩形 102"/>
          <p:cNvSpPr/>
          <p:nvPr/>
        </p:nvSpPr>
        <p:spPr>
          <a:xfrm>
            <a:off x="7772707" y="6096000"/>
            <a:ext cx="1854200" cy="3810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矩形 103"/>
          <p:cNvSpPr/>
          <p:nvPr/>
        </p:nvSpPr>
        <p:spPr>
          <a:xfrm>
            <a:off x="9728507" y="5664200"/>
            <a:ext cx="1854200" cy="431800"/>
          </a:xfrm>
          <a:prstGeom prst="rect">
            <a:avLst/>
          </a:prstGeom>
          <a:solidFill>
            <a:srgbClr val="044B89"/>
          </a:solidFill>
          <a:ln w="9525">
            <a:solidFill>
              <a:srgbClr val="044B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矩形 104"/>
          <p:cNvSpPr/>
          <p:nvPr/>
        </p:nvSpPr>
        <p:spPr>
          <a:xfrm>
            <a:off x="9728507" y="6096000"/>
            <a:ext cx="1854200" cy="381000"/>
          </a:xfrm>
          <a:prstGeom prst="rect">
            <a:avLst/>
          </a:prstGeom>
          <a:solidFill>
            <a:srgbClr val="F4F8FC"/>
          </a:solidFill>
          <a:ln w="9525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矩形 105"/>
          <p:cNvSpPr/>
          <p:nvPr/>
        </p:nvSpPr>
        <p:spPr>
          <a:xfrm>
            <a:off x="1956107" y="5727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700" dirty="0">
                <a:solidFill>
                  <a:srgbClr val="FFFFFF"/>
                </a:solidFill>
                <a:latin typeface="微软雅黑"/>
                <a:ea typeface="微软雅黑"/>
              </a:rPr>
              <a:t>① 场景定标</a:t>
            </a:r>
            <a:endParaRPr dirty="0"/>
          </a:p>
        </p:txBody>
      </p:sp>
      <p:sp>
        <p:nvSpPr>
          <p:cNvPr id="107" name="矩形 106"/>
          <p:cNvSpPr/>
          <p:nvPr/>
        </p:nvSpPr>
        <p:spPr>
          <a:xfrm>
            <a:off x="3911907" y="5727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700">
                <a:solidFill>
                  <a:srgbClr val="FFFFFF"/>
                </a:solidFill>
                <a:latin typeface="微软雅黑"/>
                <a:ea typeface="微软雅黑"/>
              </a:rPr>
              <a:t>② 硬能力</a:t>
            </a:r>
            <a:endParaRPr/>
          </a:p>
        </p:txBody>
      </p:sp>
      <p:sp>
        <p:nvSpPr>
          <p:cNvPr id="108" name="矩形 107"/>
          <p:cNvSpPr/>
          <p:nvPr/>
        </p:nvSpPr>
        <p:spPr>
          <a:xfrm>
            <a:off x="5867707" y="5727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700">
                <a:solidFill>
                  <a:srgbClr val="FFFFFF"/>
                </a:solidFill>
                <a:latin typeface="微软雅黑"/>
                <a:ea typeface="微软雅黑"/>
              </a:rPr>
              <a:t>③ 表资源</a:t>
            </a:r>
            <a:endParaRPr/>
          </a:p>
        </p:txBody>
      </p:sp>
      <p:sp>
        <p:nvSpPr>
          <p:cNvPr id="109" name="矩形 108"/>
          <p:cNvSpPr/>
          <p:nvPr/>
        </p:nvSpPr>
        <p:spPr>
          <a:xfrm>
            <a:off x="7823507" y="5727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700">
                <a:solidFill>
                  <a:srgbClr val="FFFFFF"/>
                </a:solidFill>
                <a:latin typeface="微软雅黑"/>
                <a:ea typeface="微软雅黑"/>
              </a:rPr>
              <a:t>④ 控制面</a:t>
            </a:r>
            <a:endParaRPr/>
          </a:p>
        </p:txBody>
      </p:sp>
      <p:sp>
        <p:nvSpPr>
          <p:cNvPr id="110" name="矩形 109"/>
          <p:cNvSpPr/>
          <p:nvPr/>
        </p:nvSpPr>
        <p:spPr>
          <a:xfrm>
            <a:off x="9779307" y="5727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700">
                <a:solidFill>
                  <a:srgbClr val="FFFFFF"/>
                </a:solidFill>
                <a:latin typeface="微软雅黑"/>
                <a:ea typeface="微软雅黑"/>
              </a:rPr>
              <a:t>⑤ 可编程性</a:t>
            </a:r>
            <a:endParaRPr/>
          </a:p>
        </p:txBody>
      </p:sp>
      <p:sp>
        <p:nvSpPr>
          <p:cNvPr id="111" name="矩形 110"/>
          <p:cNvSpPr/>
          <p:nvPr/>
        </p:nvSpPr>
        <p:spPr>
          <a:xfrm>
            <a:off x="1956107" y="613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1F2A37"/>
                </a:solidFill>
                <a:latin typeface="微软雅黑"/>
                <a:ea typeface="微软雅黑"/>
              </a:rPr>
              <a:t>端口速率</a:t>
            </a:r>
            <a:endParaRPr/>
          </a:p>
        </p:txBody>
      </p:sp>
      <p:sp>
        <p:nvSpPr>
          <p:cNvPr id="112" name="矩形 111"/>
          <p:cNvSpPr/>
          <p:nvPr/>
        </p:nvSpPr>
        <p:spPr>
          <a:xfrm>
            <a:off x="3911907" y="613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1F2A37"/>
                </a:solidFill>
                <a:latin typeface="微软雅黑"/>
                <a:ea typeface="微软雅黑"/>
              </a:rPr>
              <a:t>容量时延</a:t>
            </a:r>
            <a:endParaRPr/>
          </a:p>
        </p:txBody>
      </p:sp>
      <p:sp>
        <p:nvSpPr>
          <p:cNvPr id="113" name="矩形 112"/>
          <p:cNvSpPr/>
          <p:nvPr/>
        </p:nvSpPr>
        <p:spPr>
          <a:xfrm>
            <a:off x="5867707" y="613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1F2A37"/>
                </a:solidFill>
                <a:latin typeface="微软雅黑"/>
                <a:ea typeface="微软雅黑"/>
              </a:rPr>
              <a:t>表容量</a:t>
            </a:r>
            <a:endParaRPr/>
          </a:p>
        </p:txBody>
      </p:sp>
      <p:sp>
        <p:nvSpPr>
          <p:cNvPr id="114" name="矩形 113"/>
          <p:cNvSpPr/>
          <p:nvPr/>
        </p:nvSpPr>
        <p:spPr>
          <a:xfrm>
            <a:off x="7823507" y="613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1F2A37"/>
                </a:solidFill>
                <a:latin typeface="微软雅黑"/>
                <a:ea typeface="微软雅黑"/>
              </a:rPr>
              <a:t>版本兼容</a:t>
            </a:r>
            <a:endParaRPr/>
          </a:p>
        </p:txBody>
      </p:sp>
      <p:sp>
        <p:nvSpPr>
          <p:cNvPr id="115" name="矩形 114"/>
          <p:cNvSpPr/>
          <p:nvPr/>
        </p:nvSpPr>
        <p:spPr>
          <a:xfrm>
            <a:off x="9779307" y="613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1F2A37"/>
                </a:solidFill>
                <a:latin typeface="微软雅黑"/>
                <a:ea typeface="微软雅黑"/>
              </a:rPr>
              <a:t>P4 支持</a:t>
            </a: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>
            <a:off x="584200" y="482600"/>
            <a:ext cx="88900" cy="381000"/>
          </a:xfrm>
          <a:prstGeom prst="rect">
            <a:avLst/>
          </a:prstGeom>
          <a:solidFill>
            <a:srgbClr val="044B89"/>
          </a:solidFill>
          <a:ln w="12700">
            <a:solidFill>
              <a:srgbClr val="044B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矩形 117"/>
          <p:cNvSpPr/>
          <p:nvPr/>
        </p:nvSpPr>
        <p:spPr>
          <a:xfrm>
            <a:off x="584200" y="1117600"/>
            <a:ext cx="11023600" cy="12700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矩形 118"/>
          <p:cNvSpPr/>
          <p:nvPr/>
        </p:nvSpPr>
        <p:spPr>
          <a:xfrm>
            <a:off x="736600" y="381000"/>
            <a:ext cx="9652000" cy="57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>
                <a:solidFill>
                  <a:srgbClr val="044B89"/>
                </a:solidFill>
                <a:latin typeface="微软雅黑"/>
                <a:ea typeface="微软雅黑"/>
              </a:rPr>
              <a:t>三、芯片性能与选型</a:t>
            </a:r>
          </a:p>
        </p:txBody>
      </p:sp>
      <p:graphicFrame>
        <p:nvGraphicFramePr>
          <p:cNvPr id="120" name="表格 119"/>
          <p:cNvGraphicFramePr/>
          <p:nvPr/>
        </p:nvGraphicFramePr>
        <p:xfrm>
          <a:off x="584200" y="1397000"/>
          <a:ext cx="10998200" cy="45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芯片类型</a:t>
                      </a:r>
                      <a:endParaRPr/>
                    </a:p>
                  </a:txBody>
                  <a:tcPr anchor="ctr"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优点</a:t>
                      </a:r>
                      <a:endParaRPr/>
                    </a:p>
                  </a:txBody>
                  <a:tcPr anchor="ctr"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缺点</a:t>
                      </a:r>
                      <a:endParaRPr/>
                    </a:p>
                  </a:txBody>
                  <a:tcPr anchor="ctr"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应用场景</a:t>
                      </a:r>
                      <a:endParaRPr/>
                    </a:p>
                  </a:txBody>
                  <a:tcPr anchor="ctr"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 CPU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通用性强，易于扩展与升级</a:t>
                      </a:r>
                      <a:r>
                        <a:rPr lang="en-US" sz="2200" b="0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[5]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分组处理性能通常较低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网络设备的控制面与管理面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固定功能 ASIC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性能高、功耗低，可线速转发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功能固定，不易扩展；研发周期长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成熟协议的高速转发</a:t>
                      </a:r>
                      <a:r>
                        <a:rPr lang="en-US" sz="2200" b="0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 ASIC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兼顾线速性能与可编程性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可编程能力受硬件架构限制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 P4 / 新协议与在网遥测</a:t>
                      </a:r>
                      <a:r>
                        <a:rPr lang="en-US" sz="2200" b="0" baseline="3000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FPGA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可反复擦写、可编程，迭代快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处理能力与容量通常有限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科研验证与原型开发</a:t>
                      </a:r>
                      <a:endParaRPr/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44B8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可编程，适合复杂多业务处理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性能通常不及 ASIC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路由器、防火墙等复杂网络设备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文本框 38"/>
          <p:cNvSpPr txBox="1"/>
          <p:nvPr/>
        </p:nvSpPr>
        <p:spPr>
          <a:xfrm>
            <a:off x="4270890" y="232474"/>
            <a:ext cx="3143250" cy="641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/>
            <a:r>
              <a:rPr lang="zh-CN" sz="3600" b="1">
                <a:solidFill>
                  <a:srgbClr val="044B89"/>
                </a:solidFill>
                <a:latin typeface="微软雅黑"/>
                <a:ea typeface="微软雅黑"/>
              </a:rPr>
              <a:t>参考文献</a:t>
            </a:r>
          </a:p>
        </p:txBody>
      </p:sp>
      <p:sp>
        <p:nvSpPr>
          <p:cNvPr id="123" name="矩形 122"/>
          <p:cNvSpPr/>
          <p:nvPr/>
        </p:nvSpPr>
        <p:spPr>
          <a:xfrm>
            <a:off x="584200" y="1041400"/>
            <a:ext cx="11023600" cy="558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[1] MCKEOWN N, ANDERSON T, BALAKRISHNAN H, 等. OpenFlow: enabling innovation in campus networks[J]. ACM SIGCOMM Computer Communication Review, 2008, 38(2): 69-74.</a:t>
            </a:r>
            <a:endParaRPr/>
          </a:p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[2] Open Networking Foundation. OpenFlow switch specification: version 1.0.0[S]. 2009.</a:t>
            </a:r>
            <a:endParaRPr/>
          </a:p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[3] Open Networking Foundation. OpenFlow switch specification: version 1.3.0[S]. 2012.</a:t>
            </a:r>
            <a:endParaRPr/>
          </a:p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[4] BOSSHART P, DALY D, GIBB G, 等. P4: programming protocol-independent packet processors[J]. ACM SIGCOMM Computer Communication Review, 2014, 44(3): 87-95.</a:t>
            </a:r>
            <a:endParaRPr/>
          </a:p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[5] KREUTZ D, RAMOS F M V, VERÍSSIMO P E, 等. Software-defined networking: a comprehensive survey[J]. Proceedings of the IEEE, 2015, 103(1): 14-76.</a:t>
            </a:r>
            <a:endParaRPr/>
          </a:p>
          <a:p>
            <a:pPr marL="355600" indent="-355600" algn="l"/>
            <a:r>
              <a:rPr lang="zh-CN" sz="2200">
                <a:solidFill>
                  <a:srgbClr val="1F2A37"/>
                </a:solidFill>
                <a:latin typeface="微软雅黑"/>
                <a:ea typeface="微软雅黑"/>
              </a:rPr>
              <a:t>[6] OUDIN R, ANTICHI G, ROTSOS C, 等. OFLOPS-SUME and the art of switch characterization[J]. IEEE Journal on Selected Areas in Communications, 2018, 36(12): 2612-2620.</a:t>
            </a:r>
            <a:endParaRPr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5017" y="188640"/>
            <a:ext cx="7861963" cy="75073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教师评价</a:t>
            </a:r>
          </a:p>
        </p:txBody>
      </p:sp>
      <p:graphicFrame>
        <p:nvGraphicFramePr>
          <p:cNvPr id="3" name="内容占位符 3"/>
          <p:cNvGraphicFramePr>
            <a:graphicFrameLocks noGrp="1"/>
          </p:cNvGraphicFramePr>
          <p:nvPr>
            <p:ph idx="1"/>
          </p:nvPr>
        </p:nvGraphicFramePr>
        <p:xfrm>
          <a:off x="515378" y="939372"/>
          <a:ext cx="11161240" cy="539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8136904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008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评价内容</a:t>
                      </a:r>
                      <a:r>
                        <a:rPr lang="en-US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满分</a:t>
                      </a:r>
                      <a:r>
                        <a:rPr lang="en-US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4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评价依据</a:t>
                      </a: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得分</a:t>
                      </a:r>
                    </a:p>
                  </a:txBody>
                  <a:tcPr marL="68580" marR="68580" marT="45715" marB="45715" anchor="ctr"/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106124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对研讨主题的理解与响应（30分）</a:t>
                      </a:r>
                      <a:endParaRPr lang="zh-CN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能通过对研讨主题的准确理解、子问题的恰当切分或关键问题的梳理，建立脉络清晰的研讨框架，对所研讨主题进行全面回应；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1138392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对研讨主题的思考、分析与表达（50分）</a:t>
                      </a:r>
                      <a:endParaRPr lang="zh-CN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能在研讨框架下，就相关子问题或关键问题进行有内涵、有质量的分析与表达，包括明确的问题点或论点、翔实的论据或相关回应、简明扼要的表达；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9138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参考文献的查阅与利用（10分）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能根据研讨主题和研讨框架，进行有针对性的文献查阅与利用，包括参考文献的关联度、质量及其利用的有效性；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PPT制作的质量（10分）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能根据研讨框架和相关主题的表达需要，进行高质量PPT设计与制作，版面简明、美观和具有表现力，图表文与动画合理搭配，页数合理。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备注/合计得分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868</Words>
  <Application>Microsoft Office PowerPoint</Application>
  <PresentationFormat>宽屏</PresentationFormat>
  <Paragraphs>129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微软雅黑</vt:lpstr>
      <vt:lpstr>Arial</vt:lpstr>
      <vt:lpstr>Calibri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教师评价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id Bocchi</cp:lastModifiedBy>
  <cp:revision>3</cp:revision>
  <dcterms:created xsi:type="dcterms:W3CDTF">2026-09-22T16:26:47Z</dcterms:created>
  <dcterms:modified xsi:type="dcterms:W3CDTF">2026-09-22T15:28:23Z</dcterms:modified>
</cp:coreProperties>
</file>