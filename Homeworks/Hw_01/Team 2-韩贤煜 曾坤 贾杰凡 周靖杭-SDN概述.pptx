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6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7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8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9.xml" ContentType="application/vnd.openxmlformats-officedocument.theme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0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1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12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3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4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15.xml" ContentType="application/vnd.openxmlformats-officedocument.theme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16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theme/theme17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18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6" r:id="rId3"/>
    <p:sldMasterId id="2147483705" r:id="rId4"/>
    <p:sldMasterId id="2147483724" r:id="rId5"/>
    <p:sldMasterId id="2147483743" r:id="rId6"/>
    <p:sldMasterId id="2147483762" r:id="rId7"/>
    <p:sldMasterId id="2147483781" r:id="rId8"/>
    <p:sldMasterId id="2147483800" r:id="rId9"/>
    <p:sldMasterId id="2147483819" r:id="rId10"/>
    <p:sldMasterId id="2147483838" r:id="rId11"/>
    <p:sldMasterId id="2147483857" r:id="rId12"/>
    <p:sldMasterId id="2147483876" r:id="rId13"/>
    <p:sldMasterId id="2147483895" r:id="rId14"/>
    <p:sldMasterId id="2147483914" r:id="rId15"/>
    <p:sldMasterId id="2147483933" r:id="rId16"/>
    <p:sldMasterId id="2147483952" r:id="rId17"/>
    <p:sldMasterId id="2147483971" r:id="rId18"/>
    <p:sldMasterId id="2147483990" r:id="rId19"/>
  </p:sldMasterIdLst>
  <p:notesMasterIdLst>
    <p:notesMasterId r:id="rId26"/>
  </p:notesMasterIdLst>
  <p:sldIdLst>
    <p:sldId id="256" r:id="rId20"/>
    <p:sldId id="257" r:id="rId21"/>
    <p:sldId id="258" r:id="rId22"/>
    <p:sldId id="259" r:id="rId23"/>
    <p:sldId id="260" r:id="rId24"/>
    <p:sldId id="261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0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2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8.xml"/><Relationship Id="rId19" Type="http://schemas.openxmlformats.org/officeDocument/2006/relationships/theme" Target="../theme/theme7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theme" Target="../theme/theme8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74.xml"/><Relationship Id="rId17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7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2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slideLayout" Target="../slideLayouts/slideLayout193.xml"/><Relationship Id="rId1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1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9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190.xml"/><Relationship Id="rId19" Type="http://schemas.openxmlformats.org/officeDocument/2006/relationships/theme" Target="../theme/theme11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14" Type="http://schemas.openxmlformats.org/officeDocument/2006/relationships/slideLayout" Target="../slideLayouts/slideLayout19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11.xml"/><Relationship Id="rId18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10.xml"/><Relationship Id="rId17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21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08.xml"/><Relationship Id="rId19" Type="http://schemas.openxmlformats.org/officeDocument/2006/relationships/theme" Target="../theme/theme12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23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1.xml"/><Relationship Id="rId15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26.xml"/><Relationship Id="rId19" Type="http://schemas.openxmlformats.org/officeDocument/2006/relationships/theme" Target="../theme/theme13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Relationship Id="rId14" Type="http://schemas.openxmlformats.org/officeDocument/2006/relationships/slideLayout" Target="../slideLayouts/slideLayout23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18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17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5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4.xml"/><Relationship Id="rId19" Type="http://schemas.openxmlformats.org/officeDocument/2006/relationships/theme" Target="../theme/theme1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248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13" Type="http://schemas.openxmlformats.org/officeDocument/2006/relationships/slideLayout" Target="../slideLayouts/slideLayout265.xml"/><Relationship Id="rId18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9.xml"/><Relationship Id="rId12" Type="http://schemas.openxmlformats.org/officeDocument/2006/relationships/slideLayout" Target="../slideLayouts/slideLayout264.xml"/><Relationship Id="rId17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54.xml"/><Relationship Id="rId16" Type="http://schemas.openxmlformats.org/officeDocument/2006/relationships/slideLayout" Target="../slideLayouts/slideLayout26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57.xml"/><Relationship Id="rId15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62.xml"/><Relationship Id="rId19" Type="http://schemas.openxmlformats.org/officeDocument/2006/relationships/theme" Target="../theme/theme15.xml"/><Relationship Id="rId4" Type="http://schemas.openxmlformats.org/officeDocument/2006/relationships/slideLayout" Target="../slideLayouts/slideLayout256.xml"/><Relationship Id="rId9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26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13" Type="http://schemas.openxmlformats.org/officeDocument/2006/relationships/slideLayout" Target="../slideLayouts/slideLayout283.xml"/><Relationship Id="rId18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12" Type="http://schemas.openxmlformats.org/officeDocument/2006/relationships/slideLayout" Target="../slideLayouts/slideLayout282.xml"/><Relationship Id="rId17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8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11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75.xml"/><Relationship Id="rId1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80.xml"/><Relationship Id="rId19" Type="http://schemas.openxmlformats.org/officeDocument/2006/relationships/theme" Target="../theme/theme16.xml"/><Relationship Id="rId4" Type="http://schemas.openxmlformats.org/officeDocument/2006/relationships/slideLayout" Target="../slideLayouts/slideLayout274.xml"/><Relationship Id="rId9" Type="http://schemas.openxmlformats.org/officeDocument/2006/relationships/slideLayout" Target="../slideLayouts/slideLayout279.xml"/><Relationship Id="rId14" Type="http://schemas.openxmlformats.org/officeDocument/2006/relationships/slideLayout" Target="../slideLayouts/slideLayout28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theme" Target="../theme/theme17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4.xml"/><Relationship Id="rId13" Type="http://schemas.openxmlformats.org/officeDocument/2006/relationships/slideLayout" Target="../slideLayouts/slideLayout319.xml"/><Relationship Id="rId1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09.xml"/><Relationship Id="rId7" Type="http://schemas.openxmlformats.org/officeDocument/2006/relationships/slideLayout" Target="../slideLayouts/slideLayout313.xml"/><Relationship Id="rId12" Type="http://schemas.openxmlformats.org/officeDocument/2006/relationships/slideLayout" Target="../slideLayouts/slideLayout318.xml"/><Relationship Id="rId1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2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12.xml"/><Relationship Id="rId11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1.xml"/><Relationship Id="rId1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16.xml"/><Relationship Id="rId19" Type="http://schemas.openxmlformats.org/officeDocument/2006/relationships/theme" Target="../theme/theme18.xml"/><Relationship Id="rId4" Type="http://schemas.openxmlformats.org/officeDocument/2006/relationships/slideLayout" Target="../slideLayouts/slideLayout310.xml"/><Relationship Id="rId9" Type="http://schemas.openxmlformats.org/officeDocument/2006/relationships/slideLayout" Target="../slideLayouts/slideLayout315.xml"/><Relationship Id="rId14" Type="http://schemas.openxmlformats.org/officeDocument/2006/relationships/slideLayout" Target="../slideLayouts/slideLayout32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slideLayout" Target="../slideLayouts/slideLayout337.xml"/><Relationship Id="rId1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slideLayout" Target="../slideLayouts/slideLayout336.xml"/><Relationship Id="rId17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26.xml"/><Relationship Id="rId16" Type="http://schemas.openxmlformats.org/officeDocument/2006/relationships/slideLayout" Target="../slideLayouts/slideLayout34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5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34.xml"/><Relationship Id="rId19" Type="http://schemas.openxmlformats.org/officeDocument/2006/relationships/theme" Target="../theme/theme19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slideLayout" Target="../slideLayouts/slideLayout3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  <p:sldLayoutId id="214748387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  <p:sldLayoutId id="214748395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68" r:id="rId16"/>
    <p:sldLayoutId id="2147483969" r:id="rId17"/>
    <p:sldLayoutId id="214748397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sp>
        <p:nvSpPr>
          <p:cNvPr id="51" name="任意多边形: 形状 22"/>
          <p:cNvSpPr>
            <a:spLocks noGrp="1"/>
          </p:cNvSpPr>
          <p:nvPr/>
        </p:nvSpPr>
        <p:spPr>
          <a:xfrm flipH="1">
            <a:off x="1905" y="2552700"/>
            <a:ext cx="12202795" cy="2038413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: 形状 19"/>
          <p:cNvSpPr>
            <a:spLocks noGrp="1"/>
          </p:cNvSpPr>
          <p:nvPr/>
        </p:nvSpPr>
        <p:spPr>
          <a:xfrm flipH="1">
            <a:off x="1905" y="3429000"/>
            <a:ext cx="12202795" cy="3428999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13"/>
          <p:cNvSpPr>
            <a:spLocks noGrp="1"/>
          </p:cNvSpPr>
          <p:nvPr/>
        </p:nvSpPr>
        <p:spPr>
          <a:xfrm>
            <a:off x="1665605" y="4784090"/>
            <a:ext cx="8860155" cy="9264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</a:t>
            </a:r>
            <a:r>
              <a:rPr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sz="4800" dirty="0">
              <a:solidFill>
                <a:schemeClr val="tx1">
                  <a:alpha val="100000"/>
                </a:schemeClr>
              </a:solidFill>
            </a:endParaRPr>
          </a:p>
        </p:txBody>
      </p:sp>
      <p:pic>
        <p:nvPicPr>
          <p:cNvPr id="6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>
            <a:spLocks noGrp="1"/>
          </p:cNvSpPr>
          <p:nvPr/>
        </p:nvSpPr>
        <p:spPr>
          <a:xfrm>
            <a:off x="2141109" y="5746115"/>
            <a:ext cx="7909145" cy="640080"/>
          </a:xfrm>
          <a:prstGeom prst="rect">
            <a:avLst/>
          </a:prstGeom>
          <a:ln w="12700"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Team2  </a:t>
            </a: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韩贤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煜</a:t>
            </a:r>
            <a:r>
              <a:rPr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曾坤</a:t>
            </a:r>
            <a:r>
              <a:rPr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贾杰凡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周靖杭</a:t>
            </a:r>
            <a:endParaRPr sz="6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>
            <a:spLocks noGrp="1"/>
          </p:cNvSpPr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46"/>
          <p:cNvSpPr>
            <a:spLocks noGrp="1"/>
          </p:cNvSpPr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37"/>
          <p:cNvSpPr>
            <a:spLocks noGrp="1"/>
          </p:cNvSpPr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47"/>
          <p:cNvSpPr>
            <a:spLocks noGrp="1"/>
          </p:cNvSpPr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48"/>
          <p:cNvSpPr>
            <a:spLocks noGrp="1"/>
          </p:cNvSpPr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椭圆 49"/>
          <p:cNvSpPr>
            <a:spLocks noGrp="1"/>
          </p:cNvSpPr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50"/>
          <p:cNvSpPr>
            <a:spLocks noGrp="1"/>
          </p:cNvSpPr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51"/>
          <p:cNvSpPr>
            <a:spLocks noGrp="1"/>
          </p:cNvSpPr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>
            <a:spLocks noGrp="1"/>
          </p:cNvSpPr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/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43"/>
          <p:cNvSpPr>
            <a:spLocks noGrp="1"/>
          </p:cNvSpPr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/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76"/>
          <p:cNvSpPr>
            <a:spLocks noGrp="1"/>
          </p:cNvSpPr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二、SDN的解决方法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78"/>
          <p:cNvSpPr>
            <a:spLocks noGrp="1"/>
          </p:cNvSpPr>
          <p:nvPr/>
        </p:nvSpPr>
        <p:spPr>
          <a:xfrm>
            <a:off x="5706745" y="4508500"/>
            <a:ext cx="6141085" cy="762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r>
              <a:rPr sz="3600" b="1" dirty="0" err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三、SDN发展的驱动因素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文本框 23"/>
          <p:cNvSpPr>
            <a:spLocks noGrp="1"/>
          </p:cNvSpPr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sz="6000"/>
          </a:p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</a:p>
        </p:txBody>
      </p:sp>
      <p:pic>
        <p:nvPicPr>
          <p:cNvPr id="9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>
            <a:spLocks noGrp="1"/>
          </p:cNvSpPr>
          <p:nvPr/>
        </p:nvSpPr>
        <p:spPr>
          <a:xfrm>
            <a:off x="5706745" y="2804795"/>
            <a:ext cx="5527040" cy="814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一、传统网络面临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78"/>
          <p:cNvSpPr>
            <a:spLocks noGrp="1"/>
          </p:cNvSpPr>
          <p:nvPr/>
        </p:nvSpPr>
        <p:spPr>
          <a:xfrm>
            <a:off x="5706745" y="5197475"/>
            <a:ext cx="6141085" cy="99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r>
              <a:rPr sz="3600" b="1" dirty="0" err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四、SDN的定义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一、传统网络面临的问题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490662"/>
            <a:ext cx="6477000" cy="4810125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2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场景一</a:t>
            </a:r>
            <a:r>
              <a:rPr 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云数据中心</a:t>
            </a:r>
            <a:endParaRPr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业务变化快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虚拟机频繁迁移和扩容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网络配置需要同步变化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配置速度慢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交换机、路由器和防火墙需要逐台配置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调整慢且容易出错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场景二: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大型园区网或接入网</a:t>
            </a:r>
            <a:endParaRPr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管理工作量大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设备和用户数量多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接入与安全策略经常变化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策略难统一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多厂商设备的配置方式不同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全网策略容易出现差异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根本原因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控制逻辑分散在设备中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缺少全局视图和自动化配置能力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129984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云数据中心</a:t>
            </a:r>
            <a:endParaRPr sz="2400" b="1" dirty="0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364299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大型园区网或接入网</a:t>
            </a:r>
            <a:endParaRPr sz="2400" b="1" dirty="0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307" r="1307"/>
          <a:stretch>
            <a:fillRect/>
          </a:stretch>
        </p:blipFill>
        <p:spPr>
          <a:xfrm>
            <a:off x="7524750" y="1733550"/>
            <a:ext cx="3810000" cy="1809750"/>
          </a:xfrm>
          <a:prstGeom prst="roundRect">
            <a:avLst>
              <a:gd name="adj" fmla="val 6316"/>
            </a:avLst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t="7800" b="7800"/>
          <a:stretch>
            <a:fillRect/>
          </a:stretch>
        </p:blipFill>
        <p:spPr>
          <a:xfrm>
            <a:off x="7524750" y="4076700"/>
            <a:ext cx="3810000" cy="1809750"/>
          </a:xfrm>
          <a:prstGeom prst="roundRect">
            <a:avLst>
              <a:gd name="adj" fmla="val 6316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二、SDN的解决方法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1404065"/>
            <a:ext cx="11878035" cy="4766310"/>
          </a:xfrm>
          <a:prstGeom prst="rect">
            <a:avLst/>
          </a:prstGeom>
        </p:spPr>
        <p:txBody>
          <a:bodyPr wrap="square" lIns="76200" tIns="38100" rIns="76200" bIns="38100" anchor="t">
            <a:noAutofit/>
          </a:bodyPr>
          <a:lstStyle/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控制与转发分离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控制器负责路径计算和策略制定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交换机按照流表转发数据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集中控制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控制器收集全网拓扑、链路和流量信息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从全局角度计算路由和调度策略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开放接口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应用通过北向接口提出连接、带宽和安全需求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控制器通过南向接口向设备下发规则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自动化配置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使用程序批量完成网络开通、策略变更、流量调整和故障切换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网络虚拟化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Overlay、VXLAN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等技术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在同一物理网络上建立相互隔离的虚拟网络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运行过程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应用提出需求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控制器计算策略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设备执行转发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控制器持续监测并调整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三、SDN发展的驱动因素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679053"/>
            <a:ext cx="239341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  <a:defRPr sz="24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三个主要因素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584200" y="2249375"/>
            <a:ext cx="10527030" cy="2868295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</a:t>
            </a:r>
            <a:endParaRPr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云平台要求资源按需扩缩容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网络配置必须快速跟随业务变化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移动化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终端和用户位置不断变化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网络需要动态调整接入权限和安全策略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服务器间产生大量东西向流量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人工逐台配置无法支撑网络规模增长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5117670"/>
            <a:ext cx="9879553" cy="1300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推动结果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传统网络的静态配置、分散控制和封闭接口难以满足这些需求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推动网络转向软件化控制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四、SDN的定义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532052"/>
            <a:ext cx="17145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  <a:defRPr sz="24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584200" y="2065452"/>
            <a:ext cx="10744200" cy="4286250"/>
          </a:xfrm>
          <a:prstGeom prst="rect">
            <a:avLst/>
          </a:prstGeom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SDN是一种将网络控制功能与数据转发功能分离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并通过软件对网络进行集中控制和编程的网络架构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四大特点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控制器负责决策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底层设备负责数据转发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控制器掌握全网状态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统一计算并下发策略逻辑集中可以由多个控制器共同实现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标准接口减少不同设备和厂商之间的差异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可编程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应用可以根据业务需求自动改变网络行为</a:t>
            </a:r>
            <a:r>
              <a:rPr 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OpenFlow是SDN的一种南向接口实现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不能代表SDN的全部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194</Words>
  <Application>Microsoft Office PowerPoint</Application>
  <PresentationFormat>宽屏</PresentationFormat>
  <Paragraphs>50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微软雅黑</vt:lpstr>
      <vt:lpstr>Arial</vt:lpstr>
      <vt:lpstr>Calibri</vt:lpstr>
      <vt:lpstr>Office Theme</vt:lpstr>
      <vt:lpstr>4_Office Theme</vt:lpstr>
      <vt:lpstr>1_Office Theme</vt:lpstr>
      <vt:lpstr>2_Office Theme</vt:lpstr>
      <vt:lpstr>3_Office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15_Office Theme</vt:lpstr>
      <vt:lpstr>16_Office Theme</vt:lpstr>
      <vt:lpstr>18_Office Theme</vt:lpstr>
      <vt:lpstr>19_Office Theme</vt:lpstr>
      <vt:lpstr>20_Office Theme</vt:lpstr>
      <vt:lpstr>21_Office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 Bocchi</cp:lastModifiedBy>
  <cp:revision>6</cp:revision>
  <dcterms:created xsi:type="dcterms:W3CDTF">2026-09-15T13:03:33Z</dcterms:created>
  <dcterms:modified xsi:type="dcterms:W3CDTF">2026-09-27T07:25:46Z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2CBE23C6E43D4001A4FC26BF153BE0FC_12</vt:lpwstr>
  </property>
</Properties>
</file>