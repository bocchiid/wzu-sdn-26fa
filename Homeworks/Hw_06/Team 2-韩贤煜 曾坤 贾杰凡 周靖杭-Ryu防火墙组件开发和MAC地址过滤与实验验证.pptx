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80" r:id="rId3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15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98E7C-6B9F-4182-9207-7E267997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1"/>
              </a:spcBef>
              <a:spcAft>
                <a:spcPct val="1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0EEE0ACA-2C27-4F26-B49C-585ED35C7844}"/>
              </a:ext>
            </a:extLst>
          </p:cNvPr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D3A43139-98B8-4616-8E4E-D5932C68A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16" name="副标题 2">
            <a:extLst>
              <a:ext uri="{FF2B5EF4-FFF2-40B4-BE49-F238E27FC236}">
                <a16:creationId xmlns:a16="http://schemas.microsoft.com/office/drawing/2014/main" id="{0C0FF51F-38AE-48EF-BDD9-FDC3FAB8A7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17" name="日期占位符 3">
            <a:extLst>
              <a:ext uri="{FF2B5EF4-FFF2-40B4-BE49-F238E27FC236}">
                <a16:creationId xmlns:a16="http://schemas.microsoft.com/office/drawing/2014/main" id="{F919CBBA-8195-4D5B-877D-ED0BA9DB422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t>2026/10/20</a:t>
            </a:fld>
            <a:endParaRPr/>
          </a:p>
        </p:txBody>
      </p:sp>
      <p:sp>
        <p:nvSpPr>
          <p:cNvPr id="18" name="页脚占位符 4">
            <a:extLst>
              <a:ext uri="{FF2B5EF4-FFF2-40B4-BE49-F238E27FC236}">
                <a16:creationId xmlns:a16="http://schemas.microsoft.com/office/drawing/2014/main" id="{07A6C7BA-47AA-41F1-BF97-2617C76759C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0506E0D2-338A-4D29-8598-6505A4A629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453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>
            <a:extLst>
              <a:ext uri="{FF2B5EF4-FFF2-40B4-BE49-F238E27FC236}">
                <a16:creationId xmlns:a16="http://schemas.microsoft.com/office/drawing/2014/main" id="{310E2371-D9A7-4331-8D29-C9AA9F4AB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28" name="副标题 2">
            <a:extLst>
              <a:ext uri="{FF2B5EF4-FFF2-40B4-BE49-F238E27FC236}">
                <a16:creationId xmlns:a16="http://schemas.microsoft.com/office/drawing/2014/main" id="{E5181FD1-2609-41CC-AAB1-6F97BA0C4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29" name="日期占位符 3">
            <a:extLst>
              <a:ext uri="{FF2B5EF4-FFF2-40B4-BE49-F238E27FC236}">
                <a16:creationId xmlns:a16="http://schemas.microsoft.com/office/drawing/2014/main" id="{D649A5DE-BD99-46CE-BEF7-2B61B65D93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30" name="页脚占位符 4">
            <a:extLst>
              <a:ext uri="{FF2B5EF4-FFF2-40B4-BE49-F238E27FC236}">
                <a16:creationId xmlns:a16="http://schemas.microsoft.com/office/drawing/2014/main" id="{ECAA7C3E-6C1A-4624-8DD8-65BF1E9939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1" name="灯片编号占位符 5">
            <a:extLst>
              <a:ext uri="{FF2B5EF4-FFF2-40B4-BE49-F238E27FC236}">
                <a16:creationId xmlns:a16="http://schemas.microsoft.com/office/drawing/2014/main" id="{4A8085C5-5877-4715-BA0A-68EABC4C14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>
            <a:extLst>
              <a:ext uri="{FF2B5EF4-FFF2-40B4-BE49-F238E27FC236}">
                <a16:creationId xmlns:a16="http://schemas.microsoft.com/office/drawing/2014/main" id="{13DEF66E-99EC-4F53-9513-037F792A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E34AD2C2-F556-4DBA-8E6B-A71FA0063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35" name="日期占位符 3">
            <a:extLst>
              <a:ext uri="{FF2B5EF4-FFF2-40B4-BE49-F238E27FC236}">
                <a16:creationId xmlns:a16="http://schemas.microsoft.com/office/drawing/2014/main" id="{68BC6FA1-F6EF-4D21-8101-8713EC45A2F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36" name="页脚占位符 4">
            <a:extLst>
              <a:ext uri="{FF2B5EF4-FFF2-40B4-BE49-F238E27FC236}">
                <a16:creationId xmlns:a16="http://schemas.microsoft.com/office/drawing/2014/main" id="{C2E519F9-83C8-482C-AA5C-6DF6ACF170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7" name="灯片编号占位符 5">
            <a:extLst>
              <a:ext uri="{FF2B5EF4-FFF2-40B4-BE49-F238E27FC236}">
                <a16:creationId xmlns:a16="http://schemas.microsoft.com/office/drawing/2014/main" id="{AAA07C7D-0AAB-4769-94DB-FA3BA29855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>
            <a:extLst>
              <a:ext uri="{FF2B5EF4-FFF2-40B4-BE49-F238E27FC236}">
                <a16:creationId xmlns:a16="http://schemas.microsoft.com/office/drawing/2014/main" id="{6C0CF835-5EB1-4D89-8727-CD643FCF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单击此处编辑母版标题样式</a:t>
            </a:r>
          </a:p>
        </p:txBody>
      </p:sp>
      <p:sp>
        <p:nvSpPr>
          <p:cNvPr id="46" name="文本占位符 2">
            <a:extLst>
              <a:ext uri="{FF2B5EF4-FFF2-40B4-BE49-F238E27FC236}">
                <a16:creationId xmlns:a16="http://schemas.microsoft.com/office/drawing/2014/main" id="{138C39AF-69F0-465C-BFA1-2CEA9E528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7" name="日期占位符 3">
            <a:extLst>
              <a:ext uri="{FF2B5EF4-FFF2-40B4-BE49-F238E27FC236}">
                <a16:creationId xmlns:a16="http://schemas.microsoft.com/office/drawing/2014/main" id="{7AB51547-20FE-4819-8317-9941BD6581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48" name="页脚占位符 4">
            <a:extLst>
              <a:ext uri="{FF2B5EF4-FFF2-40B4-BE49-F238E27FC236}">
                <a16:creationId xmlns:a16="http://schemas.microsoft.com/office/drawing/2014/main" id="{9BE329EB-0520-4848-8D71-057FC5A1CA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9" name="灯片编号占位符 5">
            <a:extLst>
              <a:ext uri="{FF2B5EF4-FFF2-40B4-BE49-F238E27FC236}">
                <a16:creationId xmlns:a16="http://schemas.microsoft.com/office/drawing/2014/main" id="{7E0B414A-0131-42AA-991F-D1405AF3EC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>
            <a:extLst>
              <a:ext uri="{FF2B5EF4-FFF2-40B4-BE49-F238E27FC236}">
                <a16:creationId xmlns:a16="http://schemas.microsoft.com/office/drawing/2014/main" id="{8638ED3F-5095-41E7-9512-87FD112D0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8D4DD9AD-871E-46E4-A4C0-3C704A918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3" name="内容占位符 3">
            <a:extLst>
              <a:ext uri="{FF2B5EF4-FFF2-40B4-BE49-F238E27FC236}">
                <a16:creationId xmlns:a16="http://schemas.microsoft.com/office/drawing/2014/main" id="{F9F7ADCB-D6D3-40B4-94D4-C31419D80D1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4" name="日期占位符 4">
            <a:extLst>
              <a:ext uri="{FF2B5EF4-FFF2-40B4-BE49-F238E27FC236}">
                <a16:creationId xmlns:a16="http://schemas.microsoft.com/office/drawing/2014/main" id="{FB230A7C-1CF9-43F3-A873-8FB95717D4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55" name="页脚占位符 5">
            <a:extLst>
              <a:ext uri="{FF2B5EF4-FFF2-40B4-BE49-F238E27FC236}">
                <a16:creationId xmlns:a16="http://schemas.microsoft.com/office/drawing/2014/main" id="{24DD9A48-FA5E-46A5-9EF5-09B04AF3EA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6" name="灯片编号占位符 6">
            <a:extLst>
              <a:ext uri="{FF2B5EF4-FFF2-40B4-BE49-F238E27FC236}">
                <a16:creationId xmlns:a16="http://schemas.microsoft.com/office/drawing/2014/main" id="{CD60DD3A-47CF-4B05-B2D1-6E951F76B2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>
            <a:extLst>
              <a:ext uri="{FF2B5EF4-FFF2-40B4-BE49-F238E27FC236}">
                <a16:creationId xmlns:a16="http://schemas.microsoft.com/office/drawing/2014/main" id="{F17AEA4A-B198-41C2-AB4F-C300324E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96A57372-EAE1-4B1E-BD06-1DB649220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0" name="内容占位符 3">
            <a:extLst>
              <a:ext uri="{FF2B5EF4-FFF2-40B4-BE49-F238E27FC236}">
                <a16:creationId xmlns:a16="http://schemas.microsoft.com/office/drawing/2014/main" id="{970AB347-C119-4E5C-B636-541CCF8EDD0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3FD0414E-27EF-4200-9F07-4E4BC2333BD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2" name="内容占位符 5">
            <a:extLst>
              <a:ext uri="{FF2B5EF4-FFF2-40B4-BE49-F238E27FC236}">
                <a16:creationId xmlns:a16="http://schemas.microsoft.com/office/drawing/2014/main" id="{48C6FDD4-E593-4AB2-AFC6-EE26FB07E51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63" name="日期占位符 6">
            <a:extLst>
              <a:ext uri="{FF2B5EF4-FFF2-40B4-BE49-F238E27FC236}">
                <a16:creationId xmlns:a16="http://schemas.microsoft.com/office/drawing/2014/main" id="{23FE4CD9-5C71-4877-A667-27A8469624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64" name="页脚占位符 7">
            <a:extLst>
              <a:ext uri="{FF2B5EF4-FFF2-40B4-BE49-F238E27FC236}">
                <a16:creationId xmlns:a16="http://schemas.microsoft.com/office/drawing/2014/main" id="{16526A4B-41FE-4A45-AFC1-80B42BFA8E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5" name="灯片编号占位符 8">
            <a:extLst>
              <a:ext uri="{FF2B5EF4-FFF2-40B4-BE49-F238E27FC236}">
                <a16:creationId xmlns:a16="http://schemas.microsoft.com/office/drawing/2014/main" id="{2BFF437E-A26E-4D92-919B-636E5A6312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1">
            <a:extLst>
              <a:ext uri="{FF2B5EF4-FFF2-40B4-BE49-F238E27FC236}">
                <a16:creationId xmlns:a16="http://schemas.microsoft.com/office/drawing/2014/main" id="{EABC1D4E-EC21-4B7F-98BA-E8C16628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68" name="日期占位符 2">
            <a:extLst>
              <a:ext uri="{FF2B5EF4-FFF2-40B4-BE49-F238E27FC236}">
                <a16:creationId xmlns:a16="http://schemas.microsoft.com/office/drawing/2014/main" id="{509FB303-FCAF-4BBE-9125-8D793B93BE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69" name="页脚占位符 3">
            <a:extLst>
              <a:ext uri="{FF2B5EF4-FFF2-40B4-BE49-F238E27FC236}">
                <a16:creationId xmlns:a16="http://schemas.microsoft.com/office/drawing/2014/main" id="{DB3A369E-8E1F-4E03-A899-1E8603DAE8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0" name="灯片编号占位符 4">
            <a:extLst>
              <a:ext uri="{FF2B5EF4-FFF2-40B4-BE49-F238E27FC236}">
                <a16:creationId xmlns:a16="http://schemas.microsoft.com/office/drawing/2014/main" id="{847C35F1-D7C6-4044-8E38-C7DC948BC2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日期占位符 1">
            <a:extLst>
              <a:ext uri="{FF2B5EF4-FFF2-40B4-BE49-F238E27FC236}">
                <a16:creationId xmlns:a16="http://schemas.microsoft.com/office/drawing/2014/main" id="{10BD336F-4B47-47D7-B27C-36C0F356FE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73" name="页脚占位符 2">
            <a:extLst>
              <a:ext uri="{FF2B5EF4-FFF2-40B4-BE49-F238E27FC236}">
                <a16:creationId xmlns:a16="http://schemas.microsoft.com/office/drawing/2014/main" id="{E8828788-B9BC-4C76-833A-5A4301C648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4" name="灯片编号占位符 3">
            <a:extLst>
              <a:ext uri="{FF2B5EF4-FFF2-40B4-BE49-F238E27FC236}">
                <a16:creationId xmlns:a16="http://schemas.microsoft.com/office/drawing/2014/main" id="{058BAEAF-B42A-4AB4-A8BE-A852DF30A3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1">
            <a:extLst>
              <a:ext uri="{FF2B5EF4-FFF2-40B4-BE49-F238E27FC236}">
                <a16:creationId xmlns:a16="http://schemas.microsoft.com/office/drawing/2014/main" id="{942FFF86-17B0-4A8A-B332-E7882FCD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7B8B93E9-D7FF-4F5B-AE01-05A175960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8" name="文本占位符 3">
            <a:extLst>
              <a:ext uri="{FF2B5EF4-FFF2-40B4-BE49-F238E27FC236}">
                <a16:creationId xmlns:a16="http://schemas.microsoft.com/office/drawing/2014/main" id="{87A60BEE-8D0A-41AD-AB1F-5B0543EF2C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9" name="日期占位符 4">
            <a:extLst>
              <a:ext uri="{FF2B5EF4-FFF2-40B4-BE49-F238E27FC236}">
                <a16:creationId xmlns:a16="http://schemas.microsoft.com/office/drawing/2014/main" id="{F9321C93-1304-4565-A060-97E89B94CD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80" name="页脚占位符 5">
            <a:extLst>
              <a:ext uri="{FF2B5EF4-FFF2-40B4-BE49-F238E27FC236}">
                <a16:creationId xmlns:a16="http://schemas.microsoft.com/office/drawing/2014/main" id="{C9438DB3-B8D8-4F01-B738-E1F05155F1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81" name="灯片编号占位符 6">
            <a:extLst>
              <a:ext uri="{FF2B5EF4-FFF2-40B4-BE49-F238E27FC236}">
                <a16:creationId xmlns:a16="http://schemas.microsoft.com/office/drawing/2014/main" id="{DECD3D7C-00F8-48D5-AED4-2955BC610E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标题 1">
            <a:extLst>
              <a:ext uri="{FF2B5EF4-FFF2-40B4-BE49-F238E27FC236}">
                <a16:creationId xmlns:a16="http://schemas.microsoft.com/office/drawing/2014/main" id="{38DF563A-CA65-465B-8AB9-AD94ADAD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84" name="图片占位符 2">
            <a:extLst>
              <a:ext uri="{FF2B5EF4-FFF2-40B4-BE49-F238E27FC236}">
                <a16:creationId xmlns:a16="http://schemas.microsoft.com/office/drawing/2014/main" id="{4B6B65FA-3A91-463B-987E-B22C3BD5F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85" name="文本占位符 3">
            <a:extLst>
              <a:ext uri="{FF2B5EF4-FFF2-40B4-BE49-F238E27FC236}">
                <a16:creationId xmlns:a16="http://schemas.microsoft.com/office/drawing/2014/main" id="{1C5877FD-DEF3-496F-88E4-3732503890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86" name="日期占位符 4">
            <a:extLst>
              <a:ext uri="{FF2B5EF4-FFF2-40B4-BE49-F238E27FC236}">
                <a16:creationId xmlns:a16="http://schemas.microsoft.com/office/drawing/2014/main" id="{EFDC0E14-7DD8-490C-B2B6-496FC8CCDB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87" name="页脚占位符 5">
            <a:extLst>
              <a:ext uri="{FF2B5EF4-FFF2-40B4-BE49-F238E27FC236}">
                <a16:creationId xmlns:a16="http://schemas.microsoft.com/office/drawing/2014/main" id="{CB94739D-8A88-4FE1-A6FD-7822F79D35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88" name="灯片编号占位符 6">
            <a:extLst>
              <a:ext uri="{FF2B5EF4-FFF2-40B4-BE49-F238E27FC236}">
                <a16:creationId xmlns:a16="http://schemas.microsoft.com/office/drawing/2014/main" id="{9A6D5BA3-4E15-4545-99AE-CE72F5F744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标题 1">
            <a:extLst>
              <a:ext uri="{FF2B5EF4-FFF2-40B4-BE49-F238E27FC236}">
                <a16:creationId xmlns:a16="http://schemas.microsoft.com/office/drawing/2014/main" id="{2387D8D5-0544-4533-BA9A-73348616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91" name="竖排文字占位符 2">
            <a:extLst>
              <a:ext uri="{FF2B5EF4-FFF2-40B4-BE49-F238E27FC236}">
                <a16:creationId xmlns:a16="http://schemas.microsoft.com/office/drawing/2014/main" id="{8DD6B59A-6B42-47E4-A338-F9F0E2D9D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92" name="日期占位符 3">
            <a:extLst>
              <a:ext uri="{FF2B5EF4-FFF2-40B4-BE49-F238E27FC236}">
                <a16:creationId xmlns:a16="http://schemas.microsoft.com/office/drawing/2014/main" id="{6FC1722F-9E52-47C7-BC8A-C800311CF5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93" name="页脚占位符 4">
            <a:extLst>
              <a:ext uri="{FF2B5EF4-FFF2-40B4-BE49-F238E27FC236}">
                <a16:creationId xmlns:a16="http://schemas.microsoft.com/office/drawing/2014/main" id="{C772865B-E595-49E1-8123-AEED8AB610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4" name="灯片编号占位符 5">
            <a:extLst>
              <a:ext uri="{FF2B5EF4-FFF2-40B4-BE49-F238E27FC236}">
                <a16:creationId xmlns:a16="http://schemas.microsoft.com/office/drawing/2014/main" id="{8EC4D6B8-FE3A-42BA-8C89-5F2F43B06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竖排标题 1">
            <a:extLst>
              <a:ext uri="{FF2B5EF4-FFF2-40B4-BE49-F238E27FC236}">
                <a16:creationId xmlns:a16="http://schemas.microsoft.com/office/drawing/2014/main" id="{0D27CF6A-8244-446D-A674-327F869A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40" name="竖排文字占位符 2">
            <a:extLst>
              <a:ext uri="{FF2B5EF4-FFF2-40B4-BE49-F238E27FC236}">
                <a16:creationId xmlns:a16="http://schemas.microsoft.com/office/drawing/2014/main" id="{928E6277-5989-4A8E-B85F-834F58F72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1" name="日期占位符 3">
            <a:extLst>
              <a:ext uri="{FF2B5EF4-FFF2-40B4-BE49-F238E27FC236}">
                <a16:creationId xmlns:a16="http://schemas.microsoft.com/office/drawing/2014/main" id="{79F457C3-3994-41AF-9B65-79B86EA4B9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42" name="页脚占位符 4">
            <a:extLst>
              <a:ext uri="{FF2B5EF4-FFF2-40B4-BE49-F238E27FC236}">
                <a16:creationId xmlns:a16="http://schemas.microsoft.com/office/drawing/2014/main" id="{96212C04-7FBB-41D9-B02E-C628073C3D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3" name="灯片编号占位符 5">
            <a:extLst>
              <a:ext uri="{FF2B5EF4-FFF2-40B4-BE49-F238E27FC236}">
                <a16:creationId xmlns:a16="http://schemas.microsoft.com/office/drawing/2014/main" id="{159D6F33-02B8-4083-90EB-2C869C6029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161978-FC2A-4261-B1FD-BFD9190DA6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8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E898-F71E-428E-9156-545EA3B6208B}" type="datetimeFigureOut">
              <a:rPr lang="en-US" altLang="zh-CN" smtClean="0"/>
              <a:t>10/20/2026</a:t>
            </a:fld>
            <a:endParaRPr lang="zh-CN" altLang="en-US"/>
          </a:p>
        </p:txBody>
      </p:sp>
      <p:sp>
        <p:nvSpPr>
          <p:cNvPr id="3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8B338-6790-4F3E-9930-96BA1D424258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6239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2865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6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824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2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3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669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9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0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2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6559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4284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7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9831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7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0069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4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85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9157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1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9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5609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0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6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>
            <a:extLst>
              <a:ext uri="{FF2B5EF4-FFF2-40B4-BE49-F238E27FC236}">
                <a16:creationId xmlns:a16="http://schemas.microsoft.com/office/drawing/2014/main" id="{EE1275E7-BB4F-408F-B3D4-DDCD2E638DD0}"/>
              </a:ext>
            </a:extLst>
          </p:cNvPr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任意多边形: 形状 7">
            <a:extLst>
              <a:ext uri="{FF2B5EF4-FFF2-40B4-BE49-F238E27FC236}">
                <a16:creationId xmlns:a16="http://schemas.microsoft.com/office/drawing/2014/main" id="{19E9A020-E833-40FD-BB0E-B43290B480DF}"/>
              </a:ext>
            </a:extLst>
          </p:cNvPr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>
            <a:extLst>
              <a:ext uri="{FF2B5EF4-FFF2-40B4-BE49-F238E27FC236}">
                <a16:creationId xmlns:a16="http://schemas.microsoft.com/office/drawing/2014/main" id="{D2D391EE-805C-48B0-94CD-02A4AD06D7B0}"/>
              </a:ext>
            </a:extLst>
          </p:cNvPr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图片 2">
            <a:extLst>
              <a:ext uri="{FF2B5EF4-FFF2-40B4-BE49-F238E27FC236}">
                <a16:creationId xmlns:a16="http://schemas.microsoft.com/office/drawing/2014/main" id="{3CFD5B28-9B70-4ACC-AD6B-A20F03CC9A2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79" r:id="rId19"/>
  </p:sldLayoutIdLst>
  <p:txStyles>
    <p:titleStyle>
      <a:lvl1pPr algn="l" defTabSz="914400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>
            <a:extLst>
              <a:ext uri="{FF2B5EF4-FFF2-40B4-BE49-F238E27FC236}">
                <a16:creationId xmlns:a16="http://schemas.microsoft.com/office/drawing/2014/main" id="{837E37D3-D36A-4B80-A0E1-2D11026D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A1B27B61-F31D-4EBA-8782-9DB837AD0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634EEE6A-BF55-439B-AD81-07C3B110E47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BE62D-7678-476D-8C06-E3FB4C8980E3}" type="datetimeFigureOut">
              <a:t>2026/10/20</a:t>
            </a:fld>
            <a:endParaRPr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80EACA5C-01D4-43CB-9A49-1057B476339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5E91CF02-00FA-4D0C-9543-73BCBE786F6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1978-FC2A-4261-B1FD-BFD9190DA63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ctr" defTabSz="914400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BE62D-7678-476D-8C06-E3FB4C8980E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1978-FC2A-4261-B1FD-BFD9190DA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12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1868447.1868466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i.org/10.1145/1355734.1355746" TargetMode="External"/><Relationship Id="rId4" Type="http://schemas.openxmlformats.org/officeDocument/2006/relationships/hyperlink" Target="https://doi.org/10.1109/JPROC.2014.2371999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2620728.2620749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i.org/10.1145/2556610.2556621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3">
            <a:extLst>
              <a:ext uri="{FF2B5EF4-FFF2-40B4-BE49-F238E27FC236}">
                <a16:creationId xmlns:a16="http://schemas.microsoft.com/office/drawing/2014/main" id="{D4F1EE5B-1274-4FEE-BD85-F448518BC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sp>
        <p:nvSpPr>
          <p:cNvPr id="7" name="任意多边形: 形状 22">
            <a:extLst>
              <a:ext uri="{FF2B5EF4-FFF2-40B4-BE49-F238E27FC236}">
                <a16:creationId xmlns:a16="http://schemas.microsoft.com/office/drawing/2014/main" id="{670A70D1-4976-40DD-9940-05E983E6F397}"/>
              </a:ext>
            </a:extLst>
          </p:cNvPr>
          <p:cNvSpPr>
            <a:spLocks noGrp="1"/>
          </p:cNvSpPr>
          <p:nvPr/>
        </p:nvSpPr>
        <p:spPr>
          <a:xfrm flipH="1">
            <a:off x="1905" y="2552700"/>
            <a:ext cx="12202795" cy="2038413"/>
          </a:xfrm>
          <a:custGeom>
            <a:avLst/>
            <a:gdLst>
              <a:gd name="connsiteX0" fmla="*/ 12192000 w 12192000"/>
              <a:gd name="connsiteY0" fmla="*/ 1085850 h 2432050"/>
              <a:gd name="connsiteX1" fmla="*/ 12192000 w 12192000"/>
              <a:gd name="connsiteY1" fmla="*/ 921385 h 2432050"/>
              <a:gd name="connsiteX2" fmla="*/ 6939915 w 12192000"/>
              <a:gd name="connsiteY2" fmla="*/ 2085975 h 2432050"/>
              <a:gd name="connsiteX3" fmla="*/ 0 w 12192000"/>
              <a:gd name="connsiteY3" fmla="*/ 0 h 2432050"/>
              <a:gd name="connsiteX4" fmla="*/ 0 w 12192000"/>
              <a:gd name="connsiteY4" fmla="*/ 1098550 h 2432050"/>
              <a:gd name="connsiteX5" fmla="*/ 6022975 w 12192000"/>
              <a:gd name="connsiteY5" fmla="*/ 2435860 h 2432050"/>
              <a:gd name="connsiteX6" fmla="*/ 12192000 w 12192000"/>
              <a:gd name="connsiteY6" fmla="*/ 1085850 h 2432050"/>
            </a:gdLst>
            <a:ahLst/>
            <a:cxnLst/>
            <a:rect l="l" t="t" r="r" b="b"/>
            <a:pathLst>
              <a:path w="12192000" h="2432050">
                <a:moveTo>
                  <a:pt x="12192000" y="1085850"/>
                </a:moveTo>
                <a:lnTo>
                  <a:pt x="12192000" y="921385"/>
                </a:lnTo>
                <a:cubicBezTo>
                  <a:pt x="10547985" y="1675765"/>
                  <a:pt x="8780780" y="2085975"/>
                  <a:pt x="6939915" y="2085975"/>
                </a:cubicBezTo>
                <a:cubicBezTo>
                  <a:pt x="4451350" y="2085975"/>
                  <a:pt x="2096135" y="1336040"/>
                  <a:pt x="0" y="0"/>
                </a:cubicBezTo>
                <a:lnTo>
                  <a:pt x="0" y="1098550"/>
                </a:lnTo>
                <a:cubicBezTo>
                  <a:pt x="1849120" y="1959610"/>
                  <a:pt x="3884930" y="2435860"/>
                  <a:pt x="6022975" y="2435860"/>
                </a:cubicBezTo>
                <a:cubicBezTo>
                  <a:pt x="8217535" y="2436495"/>
                  <a:pt x="10935335" y="1819275"/>
                  <a:pt x="12192000" y="108585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25400" cap="flat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1"/>
              </a:spcBef>
              <a:spcAft>
                <a:spcPct val="1"/>
              </a:spcAft>
              <a:buNone/>
            </a:pPr>
            <a:endParaRPr sz="2400" kern="0"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任意多边形: 形状 19">
            <a:extLst>
              <a:ext uri="{FF2B5EF4-FFF2-40B4-BE49-F238E27FC236}">
                <a16:creationId xmlns:a16="http://schemas.microsoft.com/office/drawing/2014/main" id="{94002842-5A4D-4A29-AEBB-AC71DF22DD56}"/>
              </a:ext>
            </a:extLst>
          </p:cNvPr>
          <p:cNvSpPr>
            <a:spLocks noGrp="1"/>
          </p:cNvSpPr>
          <p:nvPr/>
        </p:nvSpPr>
        <p:spPr>
          <a:xfrm flipH="1">
            <a:off x="1905" y="3429000"/>
            <a:ext cx="12202795" cy="3428999"/>
          </a:xfrm>
          <a:custGeom>
            <a:avLst/>
            <a:gdLst>
              <a:gd name="connsiteX0" fmla="*/ 12191368 w 12192000"/>
              <a:gd name="connsiteY0" fmla="*/ 0 h 3089202"/>
              <a:gd name="connsiteX1" fmla="*/ 12069968 w 12192000"/>
              <a:gd name="connsiteY1" fmla="*/ 48278 h 3089202"/>
              <a:gd name="connsiteX2" fmla="*/ 6022975 w 12192000"/>
              <a:gd name="connsiteY2" fmla="*/ 957527 h 3089202"/>
              <a:gd name="connsiteX3" fmla="*/ 0 w 12192000"/>
              <a:gd name="connsiteY3" fmla="*/ 8759 h 3089202"/>
              <a:gd name="connsiteX4" fmla="*/ 0 w 12192000"/>
              <a:gd name="connsiteY4" fmla="*/ 3089202 h 3089202"/>
              <a:gd name="connsiteX5" fmla="*/ 12192000 w 12192000"/>
              <a:gd name="connsiteY5" fmla="*/ 3089202 h 3089202"/>
              <a:gd name="connsiteX6" fmla="*/ 12191368 w 12192000"/>
              <a:gd name="connsiteY6" fmla="*/ 0 h 3089202"/>
            </a:gdLst>
            <a:ahLst/>
            <a:cxnLst/>
            <a:rect l="l" t="t" r="r" b="b"/>
            <a:pathLst>
              <a:path w="12192000" h="3089202">
                <a:moveTo>
                  <a:pt x="12191368" y="0"/>
                </a:moveTo>
                <a:lnTo>
                  <a:pt x="12069968" y="48278"/>
                </a:lnTo>
                <a:cubicBezTo>
                  <a:pt x="10765984" y="547025"/>
                  <a:pt x="8148955" y="957964"/>
                  <a:pt x="6022975" y="957527"/>
                </a:cubicBezTo>
                <a:cubicBezTo>
                  <a:pt x="3884930" y="957527"/>
                  <a:pt x="1849120" y="619647"/>
                  <a:pt x="0" y="8759"/>
                </a:cubicBezTo>
                <a:lnTo>
                  <a:pt x="0" y="3089202"/>
                </a:lnTo>
                <a:lnTo>
                  <a:pt x="12192000" y="3089202"/>
                </a:lnTo>
                <a:lnTo>
                  <a:pt x="12191368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1"/>
              </a:spcBef>
              <a:spcAft>
                <a:spcPct val="1"/>
              </a:spcAft>
              <a:buNone/>
            </a:pPr>
            <a:endParaRPr sz="2400" kern="0"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F8D192D1-E33F-493B-A592-1B9808EC54C9}"/>
              </a:ext>
            </a:extLst>
          </p:cNvPr>
          <p:cNvSpPr>
            <a:spLocks noGrp="1"/>
          </p:cNvSpPr>
          <p:nvPr/>
        </p:nvSpPr>
        <p:spPr>
          <a:xfrm>
            <a:off x="1900000" y="4620000"/>
            <a:ext cx="8400000" cy="152000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anchor="ctr">
            <a:noAutofit/>
          </a:bodyPr>
          <a:lstStyle>
            <a:defPPr algn="ctr">
              <a:defRPr sz="4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5pPr>
            <a:lvl6pPr marL="457200" algn="r">
              <a:spcBef>
                <a:spcPct val="1"/>
              </a:spcBef>
              <a:spcAft>
                <a:spcPct val="1"/>
              </a:spcAft>
              <a:buNone/>
              <a:defRPr sz="4000" b="1">
                <a:solidFill>
                  <a:srgbClr val="044B89"/>
                </a:solidFill>
                <a:latin typeface="Arial"/>
                <a:ea typeface="Arial"/>
                <a:cs typeface="Arial"/>
              </a:defRPr>
            </a:lvl6pPr>
            <a:lvl7pPr marL="914400" algn="r">
              <a:spcBef>
                <a:spcPct val="1"/>
              </a:spcBef>
              <a:spcAft>
                <a:spcPct val="1"/>
              </a:spcAft>
              <a:buNone/>
              <a:defRPr sz="4000" b="1">
                <a:solidFill>
                  <a:srgbClr val="044B89"/>
                </a:solidFill>
                <a:latin typeface="Arial"/>
                <a:ea typeface="Arial"/>
                <a:cs typeface="Arial"/>
              </a:defRPr>
            </a:lvl7pPr>
            <a:lvl8pPr marL="1371600" algn="r">
              <a:spcBef>
                <a:spcPct val="1"/>
              </a:spcBef>
              <a:spcAft>
                <a:spcPct val="1"/>
              </a:spcAft>
              <a:buNone/>
              <a:defRPr sz="4000" b="1">
                <a:solidFill>
                  <a:srgbClr val="044B89"/>
                </a:solidFill>
                <a:latin typeface="Arial"/>
                <a:ea typeface="Arial"/>
                <a:cs typeface="Arial"/>
              </a:defRPr>
            </a:lvl8pPr>
            <a:lvl9pPr marL="1828800" algn="r">
              <a:spcBef>
                <a:spcPct val="1"/>
              </a:spcBef>
              <a:spcAft>
                <a:spcPct val="1"/>
              </a:spcAft>
              <a:buNone/>
              <a:defRPr sz="4000" b="1">
                <a:solidFill>
                  <a:srgbClr val="044B89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4000" b="1" i="0" u="none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Ryu 防火墙组件开发</a:t>
            </a:r>
            <a:endParaRPr/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4000" b="1" i="0" u="none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MAC 地址过滤与实验验证</a:t>
            </a:r>
          </a:p>
        </p:txBody>
      </p:sp>
      <p:pic>
        <p:nvPicPr>
          <p:cNvPr id="10" name="图片 5">
            <a:extLst>
              <a:ext uri="{FF2B5EF4-FFF2-40B4-BE49-F238E27FC236}">
                <a16:creationId xmlns:a16="http://schemas.microsoft.com/office/drawing/2014/main" id="{BAD81D66-ED75-4A27-9EAE-F237280F1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11" name="文本框 54">
            <a:extLst>
              <a:ext uri="{FF2B5EF4-FFF2-40B4-BE49-F238E27FC236}">
                <a16:creationId xmlns:a16="http://schemas.microsoft.com/office/drawing/2014/main" id="{1308CC84-846F-4948-8097-49244811CB47}"/>
              </a:ext>
            </a:extLst>
          </p:cNvPr>
          <p:cNvSpPr>
            <a:spLocks noGrp="1"/>
          </p:cNvSpPr>
          <p:nvPr/>
        </p:nvSpPr>
        <p:spPr>
          <a:xfrm>
            <a:off x="1911350" y="5905500"/>
            <a:ext cx="8369300" cy="64008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Team</a:t>
            </a:r>
            <a:r>
              <a:rPr sz="360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36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  韩贤煜  曾坤  贾杰凡  周靖杭</a:t>
            </a:r>
            <a:endParaRPr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55">
            <a:extLst>
              <a:ext uri="{FF2B5EF4-FFF2-40B4-BE49-F238E27FC236}">
                <a16:creationId xmlns:a16="http://schemas.microsoft.com/office/drawing/2014/main" id="{67C999E5-1907-4CB2-AA50-35D11E139154}"/>
              </a:ext>
            </a:extLst>
          </p:cNvPr>
          <p:cNvSpPr>
            <a:spLocks noGrp="1"/>
          </p:cNvSpPr>
          <p:nvPr/>
        </p:nvSpPr>
        <p:spPr>
          <a:xfrm>
            <a:off x="5150000" y="4140000"/>
            <a:ext cx="1900000" cy="430000"/>
          </a:xfrm>
          <a:prstGeom prst="roundRect">
            <a:avLst>
              <a:gd name="adj" fmla="val 28000"/>
            </a:avLst>
          </a:prstGeom>
          <a:solidFill>
            <a:srgbClr val="044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课前研习</a:t>
            </a:r>
          </a:p>
        </p:txBody>
      </p:sp>
    </p:spTree>
    <p:extLst>
      <p:ext uri="{BB962C8B-B14F-4D97-AF65-F5344CB8AC3E}">
        <p14:creationId xmlns:p14="http://schemas.microsoft.com/office/powerpoint/2010/main" val="5763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34">
            <a:extLst>
              <a:ext uri="{FF2B5EF4-FFF2-40B4-BE49-F238E27FC236}">
                <a16:creationId xmlns:a16="http://schemas.microsoft.com/office/drawing/2014/main" id="{FC76CE48-9FEA-4A5A-94F4-E9BE87F585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46">
            <a:extLst>
              <a:ext uri="{FF2B5EF4-FFF2-40B4-BE49-F238E27FC236}">
                <a16:creationId xmlns:a16="http://schemas.microsoft.com/office/drawing/2014/main" id="{CB165E7B-CF7D-468F-BA4C-EBD2F19ABC71}"/>
              </a:ext>
            </a:extLst>
          </p:cNvPr>
          <p:cNvSpPr>
            <a:spLocks noGrp="1"/>
          </p:cNvSpPr>
          <p:nvPr/>
        </p:nvSpPr>
        <p:spPr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37">
            <a:extLst>
              <a:ext uri="{FF2B5EF4-FFF2-40B4-BE49-F238E27FC236}">
                <a16:creationId xmlns:a16="http://schemas.microsoft.com/office/drawing/2014/main" id="{7B229B9B-7C61-4D20-99A2-7B7CD6813814}"/>
              </a:ext>
            </a:extLst>
          </p:cNvPr>
          <p:cNvSpPr>
            <a:spLocks noGrp="1"/>
          </p:cNvSpPr>
          <p:nvPr/>
        </p:nvSpPr>
        <p:spPr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椭圆 47">
            <a:extLst>
              <a:ext uri="{FF2B5EF4-FFF2-40B4-BE49-F238E27FC236}">
                <a16:creationId xmlns:a16="http://schemas.microsoft.com/office/drawing/2014/main" id="{BDF2E5B5-E6EF-409E-A5D4-21B2560CC8F3}"/>
              </a:ext>
            </a:extLst>
          </p:cNvPr>
          <p:cNvSpPr>
            <a:spLocks noGrp="1"/>
          </p:cNvSpPr>
          <p:nvPr/>
        </p:nvSpPr>
        <p:spPr>
          <a:xfrm>
            <a:off x="3974246" y="4822836"/>
            <a:ext cx="200570" cy="200570"/>
          </a:xfrm>
          <a:prstGeom prst="ellipse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椭圆 48">
            <a:extLst>
              <a:ext uri="{FF2B5EF4-FFF2-40B4-BE49-F238E27FC236}">
                <a16:creationId xmlns:a16="http://schemas.microsoft.com/office/drawing/2014/main" id="{EC4252EF-D6BE-4290-8E4E-375C51C57807}"/>
              </a:ext>
            </a:extLst>
          </p:cNvPr>
          <p:cNvSpPr>
            <a:spLocks noGrp="1"/>
          </p:cNvSpPr>
          <p:nvPr/>
        </p:nvSpPr>
        <p:spPr>
          <a:xfrm>
            <a:off x="1524000" y="1070224"/>
            <a:ext cx="312134" cy="312134"/>
          </a:xfrm>
          <a:prstGeom prst="ellipse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椭圆 49">
            <a:extLst>
              <a:ext uri="{FF2B5EF4-FFF2-40B4-BE49-F238E27FC236}">
                <a16:creationId xmlns:a16="http://schemas.microsoft.com/office/drawing/2014/main" id="{54225B72-B1F4-4041-A696-DD1BA2CC0613}"/>
              </a:ext>
            </a:extLst>
          </p:cNvPr>
          <p:cNvSpPr>
            <a:spLocks noGrp="1"/>
          </p:cNvSpPr>
          <p:nvPr/>
        </p:nvSpPr>
        <p:spPr>
          <a:xfrm>
            <a:off x="2638320" y="1570434"/>
            <a:ext cx="904679" cy="904679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椭圆 50">
            <a:extLst>
              <a:ext uri="{FF2B5EF4-FFF2-40B4-BE49-F238E27FC236}">
                <a16:creationId xmlns:a16="http://schemas.microsoft.com/office/drawing/2014/main" id="{13B326B2-3F82-4DA3-B9FC-4DE402F3BCBB}"/>
              </a:ext>
            </a:extLst>
          </p:cNvPr>
          <p:cNvSpPr>
            <a:spLocks noGrp="1"/>
          </p:cNvSpPr>
          <p:nvPr/>
        </p:nvSpPr>
        <p:spPr>
          <a:xfrm>
            <a:off x="2378236" y="5419101"/>
            <a:ext cx="298114" cy="298114"/>
          </a:xfrm>
          <a:prstGeom prst="ellipse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椭圆 51">
            <a:extLst>
              <a:ext uri="{FF2B5EF4-FFF2-40B4-BE49-F238E27FC236}">
                <a16:creationId xmlns:a16="http://schemas.microsoft.com/office/drawing/2014/main" id="{3935422E-7647-400C-BDCD-9F01C3AAB847}"/>
              </a:ext>
            </a:extLst>
          </p:cNvPr>
          <p:cNvSpPr>
            <a:spLocks noGrp="1"/>
          </p:cNvSpPr>
          <p:nvPr/>
        </p:nvSpPr>
        <p:spPr>
          <a:xfrm>
            <a:off x="3837236" y="1153841"/>
            <a:ext cx="440814" cy="440814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3" name="图片 2">
            <a:extLst>
              <a:ext uri="{FF2B5EF4-FFF2-40B4-BE49-F238E27FC236}">
                <a16:creationId xmlns:a16="http://schemas.microsoft.com/office/drawing/2014/main" id="{E0EBC72C-E8B2-498F-A79F-CC5C79850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24" name="任意多边形 38">
            <a:extLst>
              <a:ext uri="{FF2B5EF4-FFF2-40B4-BE49-F238E27FC236}">
                <a16:creationId xmlns:a16="http://schemas.microsoft.com/office/drawing/2014/main" id="{0D3821CF-5F80-4C23-BC83-E8142FFD2301}"/>
              </a:ext>
            </a:extLst>
          </p:cNvPr>
          <p:cNvSpPr>
            <a:spLocks noGrp="1"/>
          </p:cNvSpPr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/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任意多边形 43">
            <a:extLst>
              <a:ext uri="{FF2B5EF4-FFF2-40B4-BE49-F238E27FC236}">
                <a16:creationId xmlns:a16="http://schemas.microsoft.com/office/drawing/2014/main" id="{F599FD8F-D2DF-4AD5-9356-E5F3DA02BA2D}"/>
              </a:ext>
            </a:extLst>
          </p:cNvPr>
          <p:cNvSpPr>
            <a:spLocks noGrp="1"/>
          </p:cNvSpPr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/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文本框 23">
            <a:extLst>
              <a:ext uri="{FF2B5EF4-FFF2-40B4-BE49-F238E27FC236}">
                <a16:creationId xmlns:a16="http://schemas.microsoft.com/office/drawing/2014/main" id="{54F48EF1-2088-458E-A970-726A74A85E45}"/>
              </a:ext>
            </a:extLst>
          </p:cNvPr>
          <p:cNvSpPr>
            <a:spLocks noGrp="1"/>
          </p:cNvSpPr>
          <p:nvPr/>
        </p:nvSpPr>
        <p:spPr>
          <a:xfrm>
            <a:off x="6083300" y="736600"/>
            <a:ext cx="2173605" cy="143256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5pPr>
            <a:lvl6pPr marL="457200" algn="r">
              <a:spcBef>
                <a:spcPct val="1"/>
              </a:spcBef>
              <a:spcAft>
                <a:spcPct val="1"/>
              </a:spcAft>
              <a:buNone/>
              <a:defRPr>
                <a:latin typeface="Arial"/>
                <a:ea typeface="Arial"/>
                <a:cs typeface="Arial"/>
              </a:defRPr>
            </a:lvl6pPr>
            <a:lvl7pPr marL="914400" algn="r">
              <a:spcBef>
                <a:spcPct val="1"/>
              </a:spcBef>
              <a:spcAft>
                <a:spcPct val="1"/>
              </a:spcAft>
              <a:buNone/>
              <a:defRPr>
                <a:latin typeface="Arial"/>
                <a:ea typeface="Arial"/>
                <a:cs typeface="Arial"/>
              </a:defRPr>
            </a:lvl7pPr>
            <a:lvl8pPr marL="1371600" algn="r">
              <a:spcBef>
                <a:spcPct val="1"/>
              </a:spcBef>
              <a:spcAft>
                <a:spcPct val="1"/>
              </a:spcAft>
              <a:buNone/>
              <a:defRPr>
                <a:latin typeface="Arial"/>
                <a:ea typeface="Arial"/>
                <a:cs typeface="Arial"/>
              </a:defRPr>
            </a:lvl8pPr>
            <a:lvl9pPr marL="1828800" algn="r">
              <a:spcBef>
                <a:spcPct val="1"/>
              </a:spcBef>
              <a:spcAft>
                <a:spcPct val="1"/>
              </a:spcAft>
              <a:buNone/>
              <a:defRPr>
                <a:latin typeface="Arial"/>
                <a:ea typeface="Arial"/>
                <a:cs typeface="Arial"/>
              </a:defRPr>
            </a:lvl9pPr>
          </a:lstStyle>
          <a:p>
            <a:r>
              <a:rPr sz="6000"/>
              <a:t>目 录</a:t>
            </a:r>
          </a:p>
          <a:p>
            <a:r>
              <a:t>CONTENTS</a:t>
            </a:r>
          </a:p>
        </p:txBody>
      </p:sp>
      <p:pic>
        <p:nvPicPr>
          <p:cNvPr id="29" name="图片 5">
            <a:extLst>
              <a:ext uri="{FF2B5EF4-FFF2-40B4-BE49-F238E27FC236}">
                <a16:creationId xmlns:a16="http://schemas.microsoft.com/office/drawing/2014/main" id="{56911076-21FD-485F-A72F-E27E2F91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30" name="一、控制器与 Ryu 开发基础">
            <a:extLst>
              <a:ext uri="{FF2B5EF4-FFF2-40B4-BE49-F238E27FC236}">
                <a16:creationId xmlns:a16="http://schemas.microsoft.com/office/drawing/2014/main" id="{B69B46CD-B03F-43C7-A670-52C91270AEC9}"/>
              </a:ext>
            </a:extLst>
          </p:cNvPr>
          <p:cNvSpPr>
            <a:spLocks noGrp="1"/>
          </p:cNvSpPr>
          <p:nvPr/>
        </p:nvSpPr>
        <p:spPr>
          <a:xfrm>
            <a:off x="5810250" y="2400300"/>
            <a:ext cx="6096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0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一、实验目标与需求</a:t>
            </a:r>
          </a:p>
        </p:txBody>
      </p:sp>
      <p:sp>
        <p:nvSpPr>
          <p:cNvPr id="31" name="二、MAC 防火墙设计与实现">
            <a:extLst>
              <a:ext uri="{FF2B5EF4-FFF2-40B4-BE49-F238E27FC236}">
                <a16:creationId xmlns:a16="http://schemas.microsoft.com/office/drawing/2014/main" id="{38D98103-F0B9-4D1D-9C72-C7D31CC79F38}"/>
              </a:ext>
            </a:extLst>
          </p:cNvPr>
          <p:cNvSpPr>
            <a:spLocks noGrp="1"/>
          </p:cNvSpPr>
          <p:nvPr/>
        </p:nvSpPr>
        <p:spPr>
          <a:xfrm>
            <a:off x="5810250" y="3295650"/>
            <a:ext cx="6096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0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二、防火墙原理与方案设计</a:t>
            </a:r>
          </a:p>
        </p:txBody>
      </p:sp>
      <p:sp>
        <p:nvSpPr>
          <p:cNvPr id="32" name="三、实验验证与总结">
            <a:extLst>
              <a:ext uri="{FF2B5EF4-FFF2-40B4-BE49-F238E27FC236}">
                <a16:creationId xmlns:a16="http://schemas.microsoft.com/office/drawing/2014/main" id="{84CAFBF0-8BB1-4FCB-94CB-B286EEF5D68C}"/>
              </a:ext>
            </a:extLst>
          </p:cNvPr>
          <p:cNvSpPr>
            <a:spLocks noGrp="1"/>
          </p:cNvSpPr>
          <p:nvPr/>
        </p:nvSpPr>
        <p:spPr>
          <a:xfrm>
            <a:off x="5810250" y="4191000"/>
            <a:ext cx="6096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0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三、代码实现与实验步骤</a:t>
            </a:r>
          </a:p>
        </p:txBody>
      </p:sp>
      <p:sp>
        <p:nvSpPr>
          <p:cNvPr id="33" name="四、参考文献">
            <a:extLst>
              <a:ext uri="{FF2B5EF4-FFF2-40B4-BE49-F238E27FC236}">
                <a16:creationId xmlns:a16="http://schemas.microsoft.com/office/drawing/2014/main" id="{8A263317-6A9C-4EAF-A4E2-3B4957919BC2}"/>
              </a:ext>
            </a:extLst>
          </p:cNvPr>
          <p:cNvSpPr>
            <a:spLocks noGrp="1"/>
          </p:cNvSpPr>
          <p:nvPr/>
        </p:nvSpPr>
        <p:spPr>
          <a:xfrm>
            <a:off x="5810250" y="5086350"/>
            <a:ext cx="6096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0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四、实验结果与分析</a:t>
            </a:r>
          </a:p>
        </p:txBody>
      </p:sp>
      <p:sp>
        <p:nvSpPr>
          <p:cNvPr id="34" name="02">
            <a:extLst>
              <a:ext uri="{FF2B5EF4-FFF2-40B4-BE49-F238E27FC236}">
                <a16:creationId xmlns:a16="http://schemas.microsoft.com/office/drawing/2014/main" id="{A20B554B-447B-4DCD-B271-C851EE27FC75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0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2387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一、实验目标与需求">
            <a:extLst>
              <a:ext uri="{FF2B5EF4-FFF2-40B4-BE49-F238E27FC236}">
                <a16:creationId xmlns:a16="http://schemas.microsoft.com/office/drawing/2014/main" id="{F4366AFD-64C3-4C32-82FE-5EC35483D665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一、实验目标与需求</a:t>
            </a:r>
          </a:p>
        </p:txBody>
      </p:sp>
      <p:sp>
        <p:nvSpPr>
          <p:cNvPr id="2" name="实验任务：阻断指定通信，保留其余正常交换">
            <a:extLst>
              <a:ext uri="{FF2B5EF4-FFF2-40B4-BE49-F238E27FC236}">
                <a16:creationId xmlns:a16="http://schemas.microsoft.com/office/drawing/2014/main" id="{75AB4932-C5EF-48D1-8F45-FEA7A912EAE3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实验任务：阻断指定通信，保留其余正常交换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827C8CCE-273C-495F-8019-3A0B1833DA95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在学习交换机的基础上加入MAC地址对过滤，&#10;使 h1 与 h2 双向隔离，同时与 h3 保持通信。">
            <a:extLst>
              <a:ext uri="{FF2B5EF4-FFF2-40B4-BE49-F238E27FC236}">
                <a16:creationId xmlns:a16="http://schemas.microsoft.com/office/drawing/2014/main" id="{AAF42BC5-3CBA-4705-8535-07D94F1C159C}"/>
              </a:ext>
            </a:extLst>
          </p:cNvPr>
          <p:cNvSpPr>
            <a:spLocks noGrp="1"/>
          </p:cNvSpPr>
          <p:nvPr/>
        </p:nvSpPr>
        <p:spPr>
          <a:xfrm>
            <a:off x="762000" y="1724025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在学习交换机的基础上加入MAC地址对过滤，</a:t>
            </a:r>
          </a:p>
          <a:p>
            <a:pPr algn="l">
              <a:lnSpc>
                <a:spcPct val="108000"/>
              </a:lnSpc>
              <a:buNone/>
              <a:def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使 h1 与 h2 双向隔离，同时与 h3 保持通信。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A5A011C-8BEF-4162-A6EF-85D4F40C856B}"/>
              </a:ext>
            </a:extLst>
          </p:cNvPr>
          <p:cNvGraphicFramePr/>
          <p:nvPr/>
        </p:nvGraphicFramePr>
        <p:xfrm>
          <a:off x="762000" y="2876550"/>
          <a:ext cx="10668000" cy="2333624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功能要求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本实验的具体做法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按地址对过滤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源MAC、目的MAC同时匹配同一行规则时丢弃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未命中继续交换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保留MAC学习、洪泛与已知端口转发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通过对照验证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比较空规则、启用阻断、空规则重新初始化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一条规则控制一个方向；双向阻断需要分别配置两条规则。">
            <a:extLst>
              <a:ext uri="{FF2B5EF4-FFF2-40B4-BE49-F238E27FC236}">
                <a16:creationId xmlns:a16="http://schemas.microsoft.com/office/drawing/2014/main" id="{E31682BF-2275-4F5F-A32D-C5B52748E7BE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一条规则控制一个方向；双向阻断需要分别配置两条规则。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D7D1D508-ADB7-415C-9E21-0AFCD795584A}"/>
              </a:ext>
            </a:extLst>
          </p:cNvPr>
          <p:cNvCxnSpPr>
            <a:stCxn id="5" idx="2"/>
            <a:endCxn id="12" idx="0"/>
          </p:cNvCxnSpPr>
          <p:nvPr/>
        </p:nvCxnSpPr>
        <p:spPr>
          <a:xfrm>
            <a:off x="6096000" y="3962400"/>
            <a:ext cx="3905250" cy="5810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D6FA9"/>
            </a:solidFill>
            <a:prstDash val="soli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F17C34B-1C43-4A22-991A-23E4BC04AD11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6096000" y="3962400"/>
            <a:ext cx="0" cy="581025"/>
          </a:xfrm>
          <a:prstGeom prst="straightConnector1">
            <a:avLst/>
          </a:prstGeom>
          <a:ln w="19050">
            <a:solidFill>
              <a:srgbClr val="1D6FA9"/>
            </a:solidFill>
            <a:prstDash val="solid"/>
          </a:ln>
        </p:spPr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48182619-34FB-44BA-927A-D589C83D1457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2190750" y="3962400"/>
            <a:ext cx="3905250" cy="5810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D6FA9"/>
            </a:solidFill>
            <a:prstDash val="solid"/>
          </a:ln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AD47B80-271F-4FF2-8C6F-BBF4E4E9C79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96000" y="2552700"/>
            <a:ext cx="0" cy="571500"/>
          </a:xfrm>
          <a:prstGeom prst="straightConnector1">
            <a:avLst/>
          </a:prstGeom>
          <a:ln w="19050">
            <a:solidFill>
              <a:srgbClr val="1D6FA9"/>
            </a:solidFill>
            <a:prstDash val="dash"/>
          </a:ln>
        </p:spPr>
      </p:cxnSp>
      <p:sp>
        <p:nvSpPr>
          <p:cNvPr id="15" name="一、实验目标与需求">
            <a:extLst>
              <a:ext uri="{FF2B5EF4-FFF2-40B4-BE49-F238E27FC236}">
                <a16:creationId xmlns:a16="http://schemas.microsoft.com/office/drawing/2014/main" id="{1B80FF10-C986-4C26-A88A-D2E0A8B064B1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一、实验目标与需求</a:t>
            </a:r>
          </a:p>
        </p:txBody>
      </p:sp>
      <p:sp>
        <p:nvSpPr>
          <p:cNvPr id="2" name="实验拓扑：三个主机连接同一台OVS交换机">
            <a:extLst>
              <a:ext uri="{FF2B5EF4-FFF2-40B4-BE49-F238E27FC236}">
                <a16:creationId xmlns:a16="http://schemas.microsoft.com/office/drawing/2014/main" id="{76AF260C-BED2-4FEF-BF55-3DD140678C63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实验拓扑：三个主机连接同一台OVS交换机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55CB01CA-11BA-43C0-AABA-CEAABF03A23E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Ryu 控制器&#10;运行 MAC 防火墙应用">
            <a:extLst>
              <a:ext uri="{FF2B5EF4-FFF2-40B4-BE49-F238E27FC236}">
                <a16:creationId xmlns:a16="http://schemas.microsoft.com/office/drawing/2014/main" id="{EA39BC53-78CD-4A7A-B9E8-EDE64421DE05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3238500" cy="838200"/>
          </a:xfrm>
          <a:prstGeom prst="rect">
            <a:avLst/>
          </a:prstGeom>
          <a:solidFill>
            <a:srgbClr val="044B89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Ryu 控制器</a:t>
            </a:r>
          </a:p>
          <a:p>
            <a:pPr algn="ctr">
              <a:lnSpc>
                <a:spcPct val="105000"/>
              </a:lnSpc>
              <a:buNone/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运行 MAC 防火墙应用</a:t>
            </a:r>
          </a:p>
        </p:txBody>
      </p:sp>
      <p:sp>
        <p:nvSpPr>
          <p:cNvPr id="5" name="交换机 s1&#10;Open vSwitch">
            <a:extLst>
              <a:ext uri="{FF2B5EF4-FFF2-40B4-BE49-F238E27FC236}">
                <a16:creationId xmlns:a16="http://schemas.microsoft.com/office/drawing/2014/main" id="{ED341D88-59B1-401B-BD4F-D1CAB2BEB249}"/>
              </a:ext>
            </a:extLst>
          </p:cNvPr>
          <p:cNvSpPr>
            <a:spLocks noGrp="1"/>
          </p:cNvSpPr>
          <p:nvPr/>
        </p:nvSpPr>
        <p:spPr>
          <a:xfrm>
            <a:off x="4714875" y="3124200"/>
            <a:ext cx="2762250" cy="83820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交换机 s1</a:t>
            </a:r>
          </a:p>
          <a:p>
            <a:pPr algn="ctr">
              <a:lnSpc>
                <a:spcPct val="105000"/>
              </a:lnSpc>
              <a:buNone/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Open vSwitch</a:t>
            </a:r>
          </a:p>
        </p:txBody>
      </p:sp>
      <p:sp>
        <p:nvSpPr>
          <p:cNvPr id="7" name="OpenFlow 1.3&#10;连接端点：127.0.0.1:6653">
            <a:extLst>
              <a:ext uri="{FF2B5EF4-FFF2-40B4-BE49-F238E27FC236}">
                <a16:creationId xmlns:a16="http://schemas.microsoft.com/office/drawing/2014/main" id="{BF70A54C-9AB8-4647-9C48-43A36EA95692}"/>
              </a:ext>
            </a:extLst>
          </p:cNvPr>
          <p:cNvSpPr>
            <a:spLocks noGrp="1"/>
          </p:cNvSpPr>
          <p:nvPr/>
        </p:nvSpPr>
        <p:spPr>
          <a:xfrm>
            <a:off x="7858125" y="2552700"/>
            <a:ext cx="3667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OpenFlow 1.3</a:t>
            </a:r>
          </a:p>
          <a:p>
            <a:pPr algn="l">
              <a:lnSpc>
                <a:spcPct val="108000"/>
              </a:lnSpc>
              <a:buNone/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连接端点：127.0.0.1:6653</a:t>
            </a:r>
          </a:p>
        </p:txBody>
      </p:sp>
      <p:sp>
        <p:nvSpPr>
          <p:cNvPr id="8" name="主机 h1&#10;10.0.0.1/24&#10;00:00:00:00:00:01">
            <a:extLst>
              <a:ext uri="{FF2B5EF4-FFF2-40B4-BE49-F238E27FC236}">
                <a16:creationId xmlns:a16="http://schemas.microsoft.com/office/drawing/2014/main" id="{15D02A54-173B-44AB-9A9E-D295C7EB7D71}"/>
              </a:ext>
            </a:extLst>
          </p:cNvPr>
          <p:cNvSpPr>
            <a:spLocks noGrp="1"/>
          </p:cNvSpPr>
          <p:nvPr/>
        </p:nvSpPr>
        <p:spPr>
          <a:xfrm>
            <a:off x="762000" y="4543425"/>
            <a:ext cx="2857500" cy="110490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主机 h1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10.0.0.1/24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00:00:00:00:00:01</a:t>
            </a:r>
          </a:p>
        </p:txBody>
      </p:sp>
      <p:sp>
        <p:nvSpPr>
          <p:cNvPr id="10" name="主机 h2&#10;10.0.0.2/24&#10;00:00:00:00:00:02">
            <a:extLst>
              <a:ext uri="{FF2B5EF4-FFF2-40B4-BE49-F238E27FC236}">
                <a16:creationId xmlns:a16="http://schemas.microsoft.com/office/drawing/2014/main" id="{B066939B-73BE-40E5-8DB5-5316694C0D96}"/>
              </a:ext>
            </a:extLst>
          </p:cNvPr>
          <p:cNvSpPr>
            <a:spLocks noGrp="1"/>
          </p:cNvSpPr>
          <p:nvPr/>
        </p:nvSpPr>
        <p:spPr>
          <a:xfrm>
            <a:off x="4667250" y="4543425"/>
            <a:ext cx="2857500" cy="110490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主机 h2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10.0.0.2/24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00:00:00:00:00:02</a:t>
            </a:r>
          </a:p>
        </p:txBody>
      </p:sp>
      <p:sp>
        <p:nvSpPr>
          <p:cNvPr id="12" name="主机 h3&#10;10.0.0.3/24&#10;00:00:00:00:00:03">
            <a:extLst>
              <a:ext uri="{FF2B5EF4-FFF2-40B4-BE49-F238E27FC236}">
                <a16:creationId xmlns:a16="http://schemas.microsoft.com/office/drawing/2014/main" id="{20EDBFC1-31F7-4333-8351-E25EC1407AC2}"/>
              </a:ext>
            </a:extLst>
          </p:cNvPr>
          <p:cNvSpPr>
            <a:spLocks noGrp="1"/>
          </p:cNvSpPr>
          <p:nvPr/>
        </p:nvSpPr>
        <p:spPr>
          <a:xfrm>
            <a:off x="8572500" y="4543425"/>
            <a:ext cx="2857500" cy="110490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主机 h3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10.0.0.3/24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00:00:00:00:00:03</a:t>
            </a:r>
          </a:p>
        </p:txBody>
      </p:sp>
      <p:sp>
        <p:nvSpPr>
          <p:cNvPr id="14" name="过滤策略：h1 与 h2 双向阻断；与 h3 有关的通信保持正常[1]。">
            <a:extLst>
              <a:ext uri="{FF2B5EF4-FFF2-40B4-BE49-F238E27FC236}">
                <a16:creationId xmlns:a16="http://schemas.microsoft.com/office/drawing/2014/main" id="{0BBE1853-B3E4-4CA9-AAC1-75604B699AD6}"/>
              </a:ext>
            </a:extLst>
          </p:cNvPr>
          <p:cNvSpPr>
            <a:spLocks noGrp="1"/>
          </p:cNvSpPr>
          <p:nvPr/>
        </p:nvSpPr>
        <p:spPr>
          <a:xfrm>
            <a:off x="762000" y="583882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过滤策略：h1 与 h2 双向阻断；与 h3 有关的通信保持正常</a:t>
            </a:r>
            <a:r>
              <a:rPr sz="2000" b="1" baseline="30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[1]</a:t>
            </a: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二、防火墙原理与方案设计">
            <a:extLst>
              <a:ext uri="{FF2B5EF4-FFF2-40B4-BE49-F238E27FC236}">
                <a16:creationId xmlns:a16="http://schemas.microsoft.com/office/drawing/2014/main" id="{665F8807-86CA-4E79-9A45-DDF770F5A76E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二、防火墙原理与方案设计</a:t>
            </a:r>
          </a:p>
        </p:txBody>
      </p:sp>
      <p:sp>
        <p:nvSpPr>
          <p:cNvPr id="2" name="控制器制定规则，交换机执行丢弃与转发">
            <a:extLst>
              <a:ext uri="{FF2B5EF4-FFF2-40B4-BE49-F238E27FC236}">
                <a16:creationId xmlns:a16="http://schemas.microsoft.com/office/drawing/2014/main" id="{375977E4-33A4-4252-B615-831508B91ED4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控制器制定规则，交换机执行丢弃与转发</a:t>
            </a:r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6D0844B2-CB46-4173-8B0A-9806010DCEDF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" name="控制器通常承担以下职责，防火墙应用通过这些能力控制网络[2]。">
            <a:extLst>
              <a:ext uri="{FF2B5EF4-FFF2-40B4-BE49-F238E27FC236}">
                <a16:creationId xmlns:a16="http://schemas.microsoft.com/office/drawing/2014/main" id="{E8B0DFC4-2360-47E3-ABCF-A32539FA197F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控制器通常承担以下职责，防火墙应用通过这些能力控制网络</a:t>
            </a:r>
            <a:r>
              <a:rPr sz="2000" b="0" baseline="3000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[2]</a:t>
            </a: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9F8485B-B017-4123-A2F3-C47246B1D4B4}"/>
              </a:ext>
            </a:extLst>
          </p:cNvPr>
          <p:cNvGraphicFramePr/>
          <p:nvPr/>
        </p:nvGraphicFramePr>
        <p:xfrm>
          <a:off x="762000" y="2295525"/>
          <a:ext cx="10668000" cy="2714624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控制器内部职责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通常负责什么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本实验中的对应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应用支撑与北向接口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接收策略，开放网络能力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本实验：应用内读取CSV规则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核心网络服务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管理拓扑、状态和流表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本实验：组织过滤与学习交换逻辑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南向协议与设备抽象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将控制决策转换为设备消息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本实验：通过OpenFlow下发规则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yu负责加载应用、分派事件和生成规则；&#10;OVS根据流表处理报文，匹配丢弃项时无需逐包询问控制器。">
            <a:extLst>
              <a:ext uri="{FF2B5EF4-FFF2-40B4-BE49-F238E27FC236}">
                <a16:creationId xmlns:a16="http://schemas.microsoft.com/office/drawing/2014/main" id="{0EBDB6E7-99AF-4306-976C-985DA282F03F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Ryu负责加载应用、分派事件和生成规则；</a:t>
            </a:r>
          </a:p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OVS根据流表处理报文，匹配丢弃项时无需逐包询问控制器。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二、防火墙原理与方案设计">
            <a:extLst>
              <a:ext uri="{FF2B5EF4-FFF2-40B4-BE49-F238E27FC236}">
                <a16:creationId xmlns:a16="http://schemas.microsoft.com/office/drawing/2014/main" id="{9D9765AC-636B-4FB4-A5D1-FD6555E8CBC2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二、防火墙原理与方案设计</a:t>
            </a:r>
          </a:p>
        </p:txBody>
      </p:sp>
      <p:sp>
        <p:nvSpPr>
          <p:cNvPr id="2" name="规则设计：两条有向地址对实现双向阻断">
            <a:extLst>
              <a:ext uri="{FF2B5EF4-FFF2-40B4-BE49-F238E27FC236}">
                <a16:creationId xmlns:a16="http://schemas.microsoft.com/office/drawing/2014/main" id="{3C91489D-35AB-4B3D-B0FE-024BDC14B14E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规则设计：两条有向地址对实现双向阻断</a:t>
            </a:r>
          </a:p>
        </p:txBody>
      </p:sp>
      <p:sp>
        <p:nvSpPr>
          <p:cNvPr id="3" name="06">
            <a:extLst>
              <a:ext uri="{FF2B5EF4-FFF2-40B4-BE49-F238E27FC236}">
                <a16:creationId xmlns:a16="http://schemas.microsoft.com/office/drawing/2014/main" id="{06EA2880-4159-481F-8C52-C9791284103C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rules.csv：每行给出一组 src_mac、dst_mac。">
            <a:extLst>
              <a:ext uri="{FF2B5EF4-FFF2-40B4-BE49-F238E27FC236}">
                <a16:creationId xmlns:a16="http://schemas.microsoft.com/office/drawing/2014/main" id="{C2653AEE-E3C7-4C21-AD2A-8106FDE1FA7B}"/>
              </a:ext>
            </a:extLst>
          </p:cNvPr>
          <p:cNvSpPr>
            <a:spLocks noGrp="1"/>
          </p:cNvSpPr>
          <p:nvPr/>
        </p:nvSpPr>
        <p:spPr>
          <a:xfrm>
            <a:off x="762000" y="172402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rules.csv：每行给出一组 src_mac、dst_mac。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AA13E5-D7D6-4736-BF0C-B2E3AEC0B4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17" r="49180" b="69832"/>
          <a:stretch/>
        </p:blipFill>
        <p:spPr>
          <a:xfrm>
            <a:off x="762000" y="2333625"/>
            <a:ext cx="9503103" cy="1333500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DE9AC58-6645-4BB7-9A72-2AA30572F1E2}"/>
              </a:ext>
            </a:extLst>
          </p:cNvPr>
          <p:cNvGraphicFramePr/>
          <p:nvPr/>
        </p:nvGraphicFramePr>
        <p:xfrm>
          <a:off x="762000" y="3800475"/>
          <a:ext cx="10668000" cy="15621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同时满足的条件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第1行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源为h1，目的为h2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丢弃 h1 发往 h2 的报文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第2行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源为h2，目的为h1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丢弃 h2 发往 h1 的报文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未命中任意地址对时继续正常交换。规则在应用启动时加载。">
            <a:extLst>
              <a:ext uri="{FF2B5EF4-FFF2-40B4-BE49-F238E27FC236}">
                <a16:creationId xmlns:a16="http://schemas.microsoft.com/office/drawing/2014/main" id="{D83FF728-6DF5-4AD6-AADF-090D37E3F7A0}"/>
              </a:ext>
            </a:extLst>
          </p:cNvPr>
          <p:cNvSpPr>
            <a:spLocks noGrp="1"/>
          </p:cNvSpPr>
          <p:nvPr/>
        </p:nvSpPr>
        <p:spPr>
          <a:xfrm>
            <a:off x="762000" y="566737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未命中任意地址对时继续正常交换。规则在应用启动时加载。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B66BBE1-6553-4F71-9D1E-D7024BE1AD75}"/>
              </a:ext>
            </a:extLst>
          </p:cNvPr>
          <p:cNvCxnSpPr>
            <a:stCxn id="13" idx="2"/>
            <a:endCxn id="18" idx="0"/>
          </p:cNvCxnSpPr>
          <p:nvPr/>
        </p:nvCxnSpPr>
        <p:spPr>
          <a:xfrm>
            <a:off x="9953625" y="5191125"/>
            <a:ext cx="0" cy="400050"/>
          </a:xfrm>
          <a:prstGeom prst="straightConnector1">
            <a:avLst/>
          </a:prstGeom>
          <a:ln w="19050">
            <a:solidFill>
              <a:srgbClr val="1D6FA9"/>
            </a:solidFill>
            <a:prstDash val="solid"/>
            <a:tailEnd type="triangle" w="sm" len="sm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F325CD1-EBFC-4F06-8072-3E5AF496170A}"/>
              </a:ext>
            </a:extLst>
          </p:cNvPr>
          <p:cNvCxnSpPr>
            <a:stCxn id="13" idx="1"/>
            <a:endCxn id="15" idx="3"/>
          </p:cNvCxnSpPr>
          <p:nvPr/>
        </p:nvCxnSpPr>
        <p:spPr>
          <a:xfrm flipH="1">
            <a:off x="7477125" y="4619625"/>
            <a:ext cx="1047750" cy="0"/>
          </a:xfrm>
          <a:prstGeom prst="straightConnector1">
            <a:avLst/>
          </a:prstGeom>
          <a:ln w="19050">
            <a:solidFill>
              <a:srgbClr val="1D6FA9"/>
            </a:solidFill>
            <a:prstDash val="solid"/>
            <a:tailEnd type="triangle" w="sm" len="sm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9B1C6B8-2534-4374-A37B-1A87328B9E84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9953625" y="3695700"/>
            <a:ext cx="0" cy="352425"/>
          </a:xfrm>
          <a:prstGeom prst="straightConnector1">
            <a:avLst/>
          </a:prstGeom>
          <a:ln w="19050">
            <a:solidFill>
              <a:srgbClr val="1D6FA9"/>
            </a:solidFill>
            <a:prstDash val="solid"/>
            <a:tailEnd type="triangle" w="sm" len="sm"/>
          </a:ln>
        </p:spPr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A032E054-6DD7-4833-8DE6-3459F8B3F046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6715125" y="2314575"/>
            <a:ext cx="3238500" cy="6381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D6FA9"/>
            </a:solidFill>
            <a:prstDash val="solid"/>
            <a:tailEnd type="triangle" w="sm" len="sm"/>
          </a:ln>
        </p:spPr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E555C6FD-A2A4-453F-83AC-4E3AB636EDE2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6048375" y="2314575"/>
            <a:ext cx="666750" cy="6381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D6FA9"/>
            </a:solidFill>
            <a:prstDash val="solid"/>
            <a:tailEnd type="triangle" w="sm" len="sm"/>
          </a:ln>
        </p:spPr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B72CFED6-36C2-469F-B2FE-8E5302D8A2C6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2190750" y="2314575"/>
            <a:ext cx="4524375" cy="6381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D6FA9"/>
            </a:solidFill>
            <a:prstDash val="solid"/>
            <a:tailEnd type="triangle" w="sm" len="sm"/>
          </a:ln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3487BE5-B280-4F92-9DF7-9283354E7A2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095625" y="2038350"/>
            <a:ext cx="1047750" cy="0"/>
          </a:xfrm>
          <a:prstGeom prst="straightConnector1">
            <a:avLst/>
          </a:prstGeom>
          <a:ln w="19050">
            <a:solidFill>
              <a:srgbClr val="1D6FA9"/>
            </a:solidFill>
            <a:prstDash val="solid"/>
            <a:tailEnd type="triangle" w="sm" len="sm"/>
          </a:ln>
        </p:spPr>
      </p:cxnSp>
      <p:sp>
        <p:nvSpPr>
          <p:cNvPr id="22" name="二、防火墙原理与方案设计">
            <a:extLst>
              <a:ext uri="{FF2B5EF4-FFF2-40B4-BE49-F238E27FC236}">
                <a16:creationId xmlns:a16="http://schemas.microsoft.com/office/drawing/2014/main" id="{2FF205D1-4F0F-4A43-9E0B-A70CD92795AD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二、防火墙原理与方案设计</a:t>
            </a:r>
          </a:p>
        </p:txBody>
      </p:sp>
      <p:sp>
        <p:nvSpPr>
          <p:cNvPr id="2" name="过滤流程：先由流表决定是否进入控制器">
            <a:extLst>
              <a:ext uri="{FF2B5EF4-FFF2-40B4-BE49-F238E27FC236}">
                <a16:creationId xmlns:a16="http://schemas.microsoft.com/office/drawing/2014/main" id="{7036D080-D83B-4466-9B7D-28EBF6B6A71F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过滤流程：先由流表决定是否进入控制器</a:t>
            </a: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37E80606-7B1A-42CB-B304-C3F3F7E3A388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报文进入 OVS">
            <a:extLst>
              <a:ext uri="{FF2B5EF4-FFF2-40B4-BE49-F238E27FC236}">
                <a16:creationId xmlns:a16="http://schemas.microsoft.com/office/drawing/2014/main" id="{CA7D72F5-73E1-4E7F-A93E-25DCD8BEF54B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2333625" cy="55245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报文进入 OVS</a:t>
            </a:r>
          </a:p>
        </p:txBody>
      </p:sp>
      <p:sp>
        <p:nvSpPr>
          <p:cNvPr id="5" name="选择最高优先级匹配项">
            <a:extLst>
              <a:ext uri="{FF2B5EF4-FFF2-40B4-BE49-F238E27FC236}">
                <a16:creationId xmlns:a16="http://schemas.microsoft.com/office/drawing/2014/main" id="{A0B93971-8BCB-4482-BDAA-4B8FE182989F}"/>
              </a:ext>
            </a:extLst>
          </p:cNvPr>
          <p:cNvSpPr>
            <a:spLocks noGrp="1"/>
          </p:cNvSpPr>
          <p:nvPr/>
        </p:nvSpPr>
        <p:spPr>
          <a:xfrm>
            <a:off x="4143375" y="1762125"/>
            <a:ext cx="5143500" cy="552450"/>
          </a:xfrm>
          <a:prstGeom prst="rect">
            <a:avLst/>
          </a:prstGeom>
          <a:solidFill>
            <a:srgbClr val="044B89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选择最高优先级匹配项</a:t>
            </a:r>
          </a:p>
        </p:txBody>
      </p:sp>
      <p:sp>
        <p:nvSpPr>
          <p:cNvPr id="7" name="优先级100：丢弃项&#10;无输出动作，丢弃">
            <a:extLst>
              <a:ext uri="{FF2B5EF4-FFF2-40B4-BE49-F238E27FC236}">
                <a16:creationId xmlns:a16="http://schemas.microsoft.com/office/drawing/2014/main" id="{E50BCF1C-49BE-4AD0-8B77-B4C8C645EA62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2857500" cy="742950"/>
          </a:xfrm>
          <a:prstGeom prst="rect">
            <a:avLst/>
          </a:prstGeom>
          <a:solidFill>
            <a:srgbClr val="F8EEEE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rPr>
              <a:t>优先级100：丢弃项</a:t>
            </a:r>
          </a:p>
          <a:p>
            <a:pPr algn="ctr">
              <a:lnSpc>
                <a:spcPct val="105000"/>
              </a:lnSpc>
              <a:buNone/>
              <a:def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B63B3B"/>
                </a:solidFill>
                <a:latin typeface="微软雅黑"/>
                <a:ea typeface="微软雅黑"/>
                <a:cs typeface="微软雅黑"/>
              </a:rPr>
              <a:t>无输出动作，丢弃</a:t>
            </a:r>
          </a:p>
        </p:txBody>
      </p:sp>
      <p:sp>
        <p:nvSpPr>
          <p:cNvPr id="8" name="优先级1：转发项&#10;输出到已知端口">
            <a:extLst>
              <a:ext uri="{FF2B5EF4-FFF2-40B4-BE49-F238E27FC236}">
                <a16:creationId xmlns:a16="http://schemas.microsoft.com/office/drawing/2014/main" id="{B3265DA8-7D08-4F54-81B3-7D74725055A0}"/>
              </a:ext>
            </a:extLst>
          </p:cNvPr>
          <p:cNvSpPr>
            <a:spLocks noGrp="1"/>
          </p:cNvSpPr>
          <p:nvPr/>
        </p:nvSpPr>
        <p:spPr>
          <a:xfrm>
            <a:off x="4619625" y="2952750"/>
            <a:ext cx="2857500" cy="74295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优先级1：转发项</a:t>
            </a:r>
          </a:p>
          <a:p>
            <a:pPr algn="ctr">
              <a:lnSpc>
                <a:spcPct val="105000"/>
              </a:lnSpc>
              <a:buNone/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输出到已知端口</a:t>
            </a:r>
          </a:p>
        </p:txBody>
      </p:sp>
      <p:sp>
        <p:nvSpPr>
          <p:cNvPr id="9" name="优先级0：table-miss&#10;上送控制器">
            <a:extLst>
              <a:ext uri="{FF2B5EF4-FFF2-40B4-BE49-F238E27FC236}">
                <a16:creationId xmlns:a16="http://schemas.microsoft.com/office/drawing/2014/main" id="{9759AE71-B48E-437B-8AF5-642417CC8085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2952750" cy="74295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优先级0：table-miss</a:t>
            </a:r>
          </a:p>
          <a:p>
            <a:pPr algn="ctr">
              <a:lnSpc>
                <a:spcPct val="105000"/>
              </a:lnSpc>
              <a:buNone/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上送控制器</a:t>
            </a:r>
          </a:p>
        </p:txBody>
      </p:sp>
      <p:sp>
        <p:nvSpPr>
          <p:cNvPr id="13" name="地址对&#10;命中规则？">
            <a:extLst>
              <a:ext uri="{FF2B5EF4-FFF2-40B4-BE49-F238E27FC236}">
                <a16:creationId xmlns:a16="http://schemas.microsoft.com/office/drawing/2014/main" id="{FE5D25AC-DFF1-454D-BB1C-0CF4516C3A8E}"/>
              </a:ext>
            </a:extLst>
          </p:cNvPr>
          <p:cNvSpPr>
            <a:spLocks noGrp="1"/>
          </p:cNvSpPr>
          <p:nvPr/>
        </p:nvSpPr>
        <p:spPr>
          <a:xfrm>
            <a:off x="8524875" y="4048125"/>
            <a:ext cx="2857500" cy="1143000"/>
          </a:xfrm>
          <a:prstGeom prst="diamond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地址对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命中规则？</a:t>
            </a:r>
          </a:p>
        </p:txBody>
      </p:sp>
      <p:sp>
        <p:nvSpPr>
          <p:cNvPr id="15" name="安装丢弃项并 return&#10;跳过学习与 Packet-Out">
            <a:extLst>
              <a:ext uri="{FF2B5EF4-FFF2-40B4-BE49-F238E27FC236}">
                <a16:creationId xmlns:a16="http://schemas.microsoft.com/office/drawing/2014/main" id="{D0BF57FD-04E5-4EC5-A9FC-59968462734B}"/>
              </a:ext>
            </a:extLst>
          </p:cNvPr>
          <p:cNvSpPr>
            <a:spLocks noGrp="1"/>
          </p:cNvSpPr>
          <p:nvPr/>
        </p:nvSpPr>
        <p:spPr>
          <a:xfrm>
            <a:off x="4333875" y="4257675"/>
            <a:ext cx="3143250" cy="723900"/>
          </a:xfrm>
          <a:prstGeom prst="rect">
            <a:avLst/>
          </a:prstGeom>
          <a:solidFill>
            <a:srgbClr val="F8EEEE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rPr>
              <a:t>安装丢弃项并 return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B63B3B"/>
                </a:solidFill>
                <a:latin typeface="微软雅黑"/>
                <a:ea typeface="微软雅黑"/>
                <a:cs typeface="微软雅黑"/>
              </a:rPr>
              <a:t>跳过学习与 Packet-Out</a:t>
            </a:r>
          </a:p>
        </p:txBody>
      </p:sp>
      <p:sp>
        <p:nvSpPr>
          <p:cNvPr id="17" name="是">
            <a:extLst>
              <a:ext uri="{FF2B5EF4-FFF2-40B4-BE49-F238E27FC236}">
                <a16:creationId xmlns:a16="http://schemas.microsoft.com/office/drawing/2014/main" id="{D648C18D-3475-4E74-B485-2B295F611A6B}"/>
              </a:ext>
            </a:extLst>
          </p:cNvPr>
          <p:cNvSpPr>
            <a:spLocks noGrp="1"/>
          </p:cNvSpPr>
          <p:nvPr/>
        </p:nvSpPr>
        <p:spPr>
          <a:xfrm>
            <a:off x="7762875" y="4457700"/>
            <a:ext cx="619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rPr>
              <a:t>是</a:t>
            </a:r>
          </a:p>
        </p:txBody>
      </p:sp>
      <p:sp>
        <p:nvSpPr>
          <p:cNvPr id="18" name="MAC学习与正常转发">
            <a:extLst>
              <a:ext uri="{FF2B5EF4-FFF2-40B4-BE49-F238E27FC236}">
                <a16:creationId xmlns:a16="http://schemas.microsoft.com/office/drawing/2014/main" id="{589BA0F0-692E-4D15-AE72-C5756166C6A1}"/>
              </a:ext>
            </a:extLst>
          </p:cNvPr>
          <p:cNvSpPr>
            <a:spLocks noGrp="1"/>
          </p:cNvSpPr>
          <p:nvPr/>
        </p:nvSpPr>
        <p:spPr>
          <a:xfrm>
            <a:off x="8382000" y="5591175"/>
            <a:ext cx="3143250" cy="51435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MAC学习与正常转发</a:t>
            </a:r>
          </a:p>
        </p:txBody>
      </p:sp>
      <p:sp>
        <p:nvSpPr>
          <p:cNvPr id="20" name="否">
            <a:extLst>
              <a:ext uri="{FF2B5EF4-FFF2-40B4-BE49-F238E27FC236}">
                <a16:creationId xmlns:a16="http://schemas.microsoft.com/office/drawing/2014/main" id="{207958CB-1319-4C78-AE2C-88A2AC258CA7}"/>
              </a:ext>
            </a:extLst>
          </p:cNvPr>
          <p:cNvSpPr>
            <a:spLocks noGrp="1"/>
          </p:cNvSpPr>
          <p:nvPr/>
        </p:nvSpPr>
        <p:spPr>
          <a:xfrm>
            <a:off x="10239375" y="52387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否</a:t>
            </a:r>
          </a:p>
        </p:txBody>
      </p:sp>
      <p:sp>
        <p:nvSpPr>
          <p:cNvPr id="21" name="按OpenFlow匹配语义[3]，&#10;连接时先安装丢弃项&#10;和table-miss。普通转发项&#10;由学习交换过程建立。">
            <a:extLst>
              <a:ext uri="{FF2B5EF4-FFF2-40B4-BE49-F238E27FC236}">
                <a16:creationId xmlns:a16="http://schemas.microsoft.com/office/drawing/2014/main" id="{C4151811-6EF4-498A-A0A1-EEBDFC7E0005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3190875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按OpenFlow匹配语义</a:t>
            </a:r>
            <a:r>
              <a:rPr sz="2000" b="0" baseline="3000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[3]</a:t>
            </a: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，</a:t>
            </a:r>
            <a:b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</a:b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连接时先安装丢弃项</a:t>
            </a:r>
            <a:b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</a:b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和table-miss。普通转发项</a:t>
            </a:r>
            <a:b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</a:b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由学习交换过程建立。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06D3311-BDC3-472B-9B9D-E11281DFF11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620000" y="5076825"/>
            <a:ext cx="762000" cy="0"/>
          </a:xfrm>
          <a:prstGeom prst="straightConnector1">
            <a:avLst/>
          </a:prstGeom>
          <a:ln w="19050">
            <a:solidFill>
              <a:srgbClr val="1D6FA9"/>
            </a:solidFill>
            <a:prstDash val="solid"/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4A76EF-3EF6-4F43-9867-28AF55791D2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810000" y="5076825"/>
            <a:ext cx="762000" cy="0"/>
          </a:xfrm>
          <a:prstGeom prst="straightConnector1">
            <a:avLst/>
          </a:prstGeom>
          <a:ln w="19050">
            <a:solidFill>
              <a:srgbClr val="1D6FA9"/>
            </a:solidFill>
            <a:prstDash val="solid"/>
            <a:tailEnd type="triangle" w="sm" len="sm"/>
          </a:ln>
        </p:spPr>
      </p:cxnSp>
      <p:sp>
        <p:nvSpPr>
          <p:cNvPr id="11" name="二、防火墙原理与方案设计">
            <a:extLst>
              <a:ext uri="{FF2B5EF4-FFF2-40B4-BE49-F238E27FC236}">
                <a16:creationId xmlns:a16="http://schemas.microsoft.com/office/drawing/2014/main" id="{CB60554B-DF74-491F-A885-4A9D5FA361F9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二、防火墙原理与方案设计</a:t>
            </a:r>
          </a:p>
        </p:txBody>
      </p:sp>
      <p:sp>
        <p:nvSpPr>
          <p:cNvPr id="2" name="Ryu事件把规则加载、连接初始化和报文处理串起来">
            <a:extLst>
              <a:ext uri="{FF2B5EF4-FFF2-40B4-BE49-F238E27FC236}">
                <a16:creationId xmlns:a16="http://schemas.microsoft.com/office/drawing/2014/main" id="{6BB4CB4C-BC9A-483D-8414-683D1671EE02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Ryu事件把规则加载、连接初始化和报文处理串起来</a:t>
            </a: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E965E509-84ED-4466-8C6B-5382178E497B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E35E469-ADBC-4465-A0B1-0F519F686CE3}"/>
              </a:ext>
            </a:extLst>
          </p:cNvPr>
          <p:cNvGraphicFramePr/>
          <p:nvPr/>
        </p:nvGraphicFramePr>
        <p:xfrm>
          <a:off x="762000" y="1695450"/>
          <a:ext cx="10668000" cy="266319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63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承担的工作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本实验中的位置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app_manager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加载并管理应用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继承RyuApp，初始化时读取CSV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controller、handler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按状态分派事件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Features/CONFIG、Packet-In/MAIN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ofproto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定义匹配与协议消息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OFPMatch、FlowMod、PacketOut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lib.packet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解析以太网等报文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提取源MAC和目的MAC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应用初始化&#10;__init__&#10;读取和校验CSV">
            <a:extLst>
              <a:ext uri="{FF2B5EF4-FFF2-40B4-BE49-F238E27FC236}">
                <a16:creationId xmlns:a16="http://schemas.microsoft.com/office/drawing/2014/main" id="{CBE8AA6C-993F-40BB-BF3C-1BD3BD6F34E0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3048000" cy="104775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应用初始化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__init__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读取和校验CSV</a:t>
            </a:r>
          </a:p>
        </p:txBody>
      </p:sp>
      <p:sp>
        <p:nvSpPr>
          <p:cNvPr id="6" name="连接初始化（CONFIG）&#10;Switch Features事件&#10;预装丢弃项和table-miss">
            <a:extLst>
              <a:ext uri="{FF2B5EF4-FFF2-40B4-BE49-F238E27FC236}">
                <a16:creationId xmlns:a16="http://schemas.microsoft.com/office/drawing/2014/main" id="{482DF6E6-8E59-4D64-AE62-53455F20CA7F}"/>
              </a:ext>
            </a:extLst>
          </p:cNvPr>
          <p:cNvSpPr>
            <a:spLocks noGrp="1"/>
          </p:cNvSpPr>
          <p:nvPr/>
        </p:nvSpPr>
        <p:spPr>
          <a:xfrm>
            <a:off x="4572000" y="4552950"/>
            <a:ext cx="3048000" cy="104775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连接初始化（CONFIG）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Switch Features事件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预装丢弃项和table-miss</a:t>
            </a:r>
          </a:p>
        </p:txBody>
      </p:sp>
      <p:sp>
        <p:nvSpPr>
          <p:cNvPr id="7" name="报文处理（MAIN）&#10;Packet-In事件&#10;先过滤，再学习转发">
            <a:extLst>
              <a:ext uri="{FF2B5EF4-FFF2-40B4-BE49-F238E27FC236}">
                <a16:creationId xmlns:a16="http://schemas.microsoft.com/office/drawing/2014/main" id="{6ECC560F-DAD0-4E3C-BBCD-6A1715518BA3}"/>
              </a:ext>
            </a:extLst>
          </p:cNvPr>
          <p:cNvSpPr>
            <a:spLocks noGrp="1"/>
          </p:cNvSpPr>
          <p:nvPr/>
        </p:nvSpPr>
        <p:spPr>
          <a:xfrm>
            <a:off x="8382000" y="4552950"/>
            <a:ext cx="3048000" cy="1047750"/>
          </a:xfrm>
          <a:prstGeom prst="rect">
            <a:avLst/>
          </a:prstGeom>
          <a:solidFill>
            <a:srgbClr val="EAF0F6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报文处理（MAIN）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Packet-In事件</a:t>
            </a:r>
          </a:p>
          <a:p>
            <a:pPr algn="ctr">
              <a:lnSpc>
                <a:spcPct val="105000"/>
              </a:lnSpc>
              <a:buNone/>
              <a:def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先过滤，再学习转发</a:t>
            </a:r>
          </a:p>
        </p:txBody>
      </p:sp>
      <p:sp>
        <p:nvSpPr>
          <p:cNvPr id="10" name="开发依次完成：明确需求、设计流表、改造示例、仿真调试、对照验证。">
            <a:extLst>
              <a:ext uri="{FF2B5EF4-FFF2-40B4-BE49-F238E27FC236}">
                <a16:creationId xmlns:a16="http://schemas.microsoft.com/office/drawing/2014/main" id="{B2142D80-0108-4C30-A829-88695731C01E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开发依次完成：明确需求、设计流表、改造示例、仿真调试、对照验证。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三、代码实现与实验步骤">
            <a:extLst>
              <a:ext uri="{FF2B5EF4-FFF2-40B4-BE49-F238E27FC236}">
                <a16:creationId xmlns:a16="http://schemas.microsoft.com/office/drawing/2014/main" id="{F5DD8417-BC4C-401C-9AB3-CF32751736C7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三、代码实现与实验步骤</a:t>
            </a:r>
          </a:p>
        </p:txBody>
      </p:sp>
      <p:sp>
        <p:nvSpPr>
          <p:cNvPr id="2" name="步骤1：读取CSV，并拒绝格式错误的规则">
            <a:extLst>
              <a:ext uri="{FF2B5EF4-FFF2-40B4-BE49-F238E27FC236}">
                <a16:creationId xmlns:a16="http://schemas.microsoft.com/office/drawing/2014/main" id="{BF0BFF28-A4A2-4C1B-B5BC-6ADEB639176C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步骤1：读取CSV，并拒绝格式错误的规则</a:t>
            </a: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4F72D574-F07C-4E13-88EE-BEF95AF22F20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load_rules 中的地址规范化与校验片段">
            <a:extLst>
              <a:ext uri="{FF2B5EF4-FFF2-40B4-BE49-F238E27FC236}">
                <a16:creationId xmlns:a16="http://schemas.microsoft.com/office/drawing/2014/main" id="{A8A0880C-0017-4A62-9CE7-C0191AD877F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7048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load_rules 中的地址规范化与校验片段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22C33E-AB2A-4600-AA5F-51482769B4F5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7048500" cy="3171825"/>
          </a:xfrm>
          <a:prstGeom prst="rect">
            <a:avLst/>
          </a:prstGeom>
          <a:solidFill>
            <a:srgbClr val="142232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endParaRPr/>
          </a:p>
        </p:txBody>
      </p:sp>
      <p:sp>
        <p:nvSpPr>
          <p:cNvPr id="6" name="pair = tuple(&#10;    row[key].strip().lower()&#10;    for key in re">
            <a:extLst>
              <a:ext uri="{FF2B5EF4-FFF2-40B4-BE49-F238E27FC236}">
                <a16:creationId xmlns:a16="http://schemas.microsoft.com/office/drawing/2014/main" id="{F13AA6EB-5E68-4494-8673-846819532EA1}"/>
              </a:ext>
            </a:extLst>
          </p:cNvPr>
          <p:cNvSpPr>
            <a:spLocks noGrp="1"/>
          </p:cNvSpPr>
          <p:nvPr/>
        </p:nvSpPr>
        <p:spPr>
          <a:xfrm>
            <a:off x="933450" y="2333625"/>
            <a:ext cx="6705600" cy="2905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pair = tuple(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row[key].strip().lower()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for key in reader.fieldnames)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if not all(MAC_PATTERN.match(mac)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   for mac in pair):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raise ValueError(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"Invalid MAC address at CSV line %d"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% reader.line_num)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rules.add(pair)</a:t>
            </a:r>
          </a:p>
        </p:txBody>
      </p:sp>
      <p:sp>
        <p:nvSpPr>
          <p:cNvPr id="7" name="加载前检查">
            <a:extLst>
              <a:ext uri="{FF2B5EF4-FFF2-40B4-BE49-F238E27FC236}">
                <a16:creationId xmlns:a16="http://schemas.microsoft.com/office/drawing/2014/main" id="{4A367684-7A51-4DC1-B652-AB101ADF660A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3143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加载前检查</a:t>
            </a:r>
          </a:p>
        </p:txBody>
      </p:sp>
      <p:sp>
        <p:nvSpPr>
          <p:cNvPr id="8" name="表头必须是&#10;src_mac、dst_mac&#10;&#10;每行必须恰好两列&#10;&#10;MAC必须使用&#10;完整六字节地址">
            <a:extLst>
              <a:ext uri="{FF2B5EF4-FFF2-40B4-BE49-F238E27FC236}">
                <a16:creationId xmlns:a16="http://schemas.microsoft.com/office/drawing/2014/main" id="{5F2C5753-B14B-4309-BBB0-1E5048570313}"/>
              </a:ext>
            </a:extLst>
          </p:cNvPr>
          <p:cNvSpPr>
            <a:spLocks noGrp="1"/>
          </p:cNvSpPr>
          <p:nvPr/>
        </p:nvSpPr>
        <p:spPr>
          <a:xfrm>
            <a:off x="8286750" y="2733675"/>
            <a:ext cx="3143250" cy="2600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表头必须是</a:t>
            </a:r>
          </a:p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src_mac、dst_mac</a:t>
            </a:r>
          </a:p>
          <a:p>
            <a:endParaRPr sz="2100" b="0">
              <a:solidFill>
                <a:srgbClr val="1F2A3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每行必须恰好两列</a:t>
            </a:r>
          </a:p>
          <a:p>
            <a:endParaRPr sz="2100" b="0">
              <a:solidFill>
                <a:srgbClr val="1F2A3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MAC必须使用</a:t>
            </a:r>
          </a:p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完整六字节地址</a:t>
            </a:r>
          </a:p>
        </p:txBody>
      </p:sp>
      <p:sp>
        <p:nvSpPr>
          <p:cNvPr id="9" name="规则统一转为小写并去重；读取失败或格式错误会阻止应用启动。">
            <a:extLst>
              <a:ext uri="{FF2B5EF4-FFF2-40B4-BE49-F238E27FC236}">
                <a16:creationId xmlns:a16="http://schemas.microsoft.com/office/drawing/2014/main" id="{B9599411-09CF-4B4D-B03D-013EE7E208AC}"/>
              </a:ext>
            </a:extLst>
          </p:cNvPr>
          <p:cNvSpPr>
            <a:spLocks noGrp="1"/>
          </p:cNvSpPr>
          <p:nvPr/>
        </p:nvSpPr>
        <p:spPr>
          <a:xfrm>
            <a:off x="762000" y="5648325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规则统一转为小写并去重；读取失败或格式错误会阻止应用启动。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三、代码实现与实验步骤">
            <a:extLst>
              <a:ext uri="{FF2B5EF4-FFF2-40B4-BE49-F238E27FC236}">
                <a16:creationId xmlns:a16="http://schemas.microsoft.com/office/drawing/2014/main" id="{39F7BB0C-0D61-421F-A84B-A6F710AF19EA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三、代码实现与实验步骤</a:t>
            </a:r>
          </a:p>
        </p:txBody>
      </p:sp>
      <p:sp>
        <p:nvSpPr>
          <p:cNvPr id="2" name="步骤2：在连接和报文事件中加入过滤逻辑">
            <a:extLst>
              <a:ext uri="{FF2B5EF4-FFF2-40B4-BE49-F238E27FC236}">
                <a16:creationId xmlns:a16="http://schemas.microsoft.com/office/drawing/2014/main" id="{265AD75D-11DD-477F-906E-FC2027A58FB5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步骤2：在连接和报文事件中加入过滤逻辑</a:t>
            </a:r>
          </a:p>
        </p:txBody>
      </p:sp>
      <p:sp>
        <p:nvSpPr>
          <p:cNvPr id="3" name="10">
            <a:extLst>
              <a:ext uri="{FF2B5EF4-FFF2-40B4-BE49-F238E27FC236}">
                <a16:creationId xmlns:a16="http://schemas.microsoft.com/office/drawing/2014/main" id="{3B95F462-847B-4AB1-BF90-9856ED140638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连接时：预装高优先级丢弃项">
            <a:extLst>
              <a:ext uri="{FF2B5EF4-FFF2-40B4-BE49-F238E27FC236}">
                <a16:creationId xmlns:a16="http://schemas.microsoft.com/office/drawing/2014/main" id="{A2422D3E-058C-4818-A146-DA4DC8C2B488}"/>
              </a:ext>
            </a:extLst>
          </p:cNvPr>
          <p:cNvSpPr>
            <a:spLocks noGrp="1"/>
          </p:cNvSpPr>
          <p:nvPr/>
        </p:nvSpPr>
        <p:spPr>
          <a:xfrm>
            <a:off x="762000" y="1724025"/>
            <a:ext cx="5238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连接时：预装高优先级丢弃项</a:t>
            </a:r>
          </a:p>
        </p:txBody>
      </p:sp>
      <p:sp>
        <p:nvSpPr>
          <p:cNvPr id="5" name="上送后：先检查地址对再处理报文">
            <a:extLst>
              <a:ext uri="{FF2B5EF4-FFF2-40B4-BE49-F238E27FC236}">
                <a16:creationId xmlns:a16="http://schemas.microsoft.com/office/drawing/2014/main" id="{AAC90028-0E10-4C35-BFFE-F44B09EA6E50}"/>
              </a:ext>
            </a:extLst>
          </p:cNvPr>
          <p:cNvSpPr>
            <a:spLocks noGrp="1"/>
          </p:cNvSpPr>
          <p:nvPr/>
        </p:nvSpPr>
        <p:spPr>
          <a:xfrm>
            <a:off x="6286500" y="1724025"/>
            <a:ext cx="5238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上送后：先检查地址对再处理报文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CB8284-8D4C-4153-A07D-4FD0B0D50F79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5238750" cy="2686050"/>
          </a:xfrm>
          <a:prstGeom prst="rect">
            <a:avLst/>
          </a:prstGeom>
          <a:solidFill>
            <a:srgbClr val="142232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endParaRPr/>
          </a:p>
        </p:txBody>
      </p:sp>
      <p:sp>
        <p:nvSpPr>
          <p:cNvPr id="7" name="for src, dst in sorted(&#10;        self.blocked_pairs):&#10;    mat">
            <a:extLst>
              <a:ext uri="{FF2B5EF4-FFF2-40B4-BE49-F238E27FC236}">
                <a16:creationId xmlns:a16="http://schemas.microsoft.com/office/drawing/2014/main" id="{1AFD9EFA-37DE-49DA-B8E5-D349089E817B}"/>
              </a:ext>
            </a:extLst>
          </p:cNvPr>
          <p:cNvSpPr>
            <a:spLocks noGrp="1"/>
          </p:cNvSpPr>
          <p:nvPr/>
        </p:nvSpPr>
        <p:spPr>
          <a:xfrm>
            <a:off x="933450" y="2362200"/>
            <a:ext cx="4895850" cy="2419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for src, dst in sorted(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self.blocked_pairs):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match = parser.OFPMatch(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eth_src=src, eth_dst=dst)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self.add_flow(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datapath, 100, match, [],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cookie=DROP_COOKIE)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38D047-3672-4668-A273-15E5BAAA9F53}"/>
              </a:ext>
            </a:extLst>
          </p:cNvPr>
          <p:cNvSpPr>
            <a:spLocks noGrp="1"/>
          </p:cNvSpPr>
          <p:nvPr/>
        </p:nvSpPr>
        <p:spPr>
          <a:xfrm>
            <a:off x="6286500" y="2228850"/>
            <a:ext cx="5238750" cy="3333750"/>
          </a:xfrm>
          <a:prstGeom prst="rect">
            <a:avLst/>
          </a:prstGeom>
          <a:solidFill>
            <a:srgbClr val="142232"/>
          </a:solidFill>
          <a:ln w="12383">
            <a:solidFill>
              <a:srgbClr val="044B89"/>
            </a:solidFill>
          </a:ln>
        </p:spPr>
        <p:txBody>
          <a:bodyPr lIns="47625" tIns="47625" rIns="47625" bIns="47625" anchor="ctr">
            <a:noAutofit/>
          </a:bodyPr>
          <a:lstStyle>
            <a:def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0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endParaRPr/>
          </a:p>
        </p:txBody>
      </p:sp>
      <p:sp>
        <p:nvSpPr>
          <p:cNvPr id="9" name="if (src, dst) in (&#10;        self.blocked_pairs):&#10;    self.add">
            <a:extLst>
              <a:ext uri="{FF2B5EF4-FFF2-40B4-BE49-F238E27FC236}">
                <a16:creationId xmlns:a16="http://schemas.microsoft.com/office/drawing/2014/main" id="{DC815EF8-93EF-4BC7-ADF4-1F679052B2D5}"/>
              </a:ext>
            </a:extLst>
          </p:cNvPr>
          <p:cNvSpPr>
            <a:spLocks noGrp="1"/>
          </p:cNvSpPr>
          <p:nvPr/>
        </p:nvSpPr>
        <p:spPr>
          <a:xfrm>
            <a:off x="6457950" y="2362200"/>
            <a:ext cx="4895850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if (src, dst) in (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self.blocked_pairs):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self.add_flow(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datapath, 100,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parser.OFPMatch(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    eth_src=src,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    eth_dst=dst), [],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buffer_id=msg.buffer_id,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 cookie=DROP_COOKIE)</a:t>
            </a:r>
          </a:p>
          <a:p>
            <a:pPr algn="l">
              <a:lnSpc>
                <a:spcPct val="100000"/>
              </a:lnSpc>
              <a:buNone/>
              <a:defRPr sz="20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return</a:t>
            </a:r>
          </a:p>
        </p:txBody>
      </p:sp>
      <p:sp>
        <p:nvSpPr>
          <p:cNvPr id="10" name="空动作列表形成丢弃项。&#10;已安装规则可直接处理匹配报文。">
            <a:extLst>
              <a:ext uri="{FF2B5EF4-FFF2-40B4-BE49-F238E27FC236}">
                <a16:creationId xmlns:a16="http://schemas.microsoft.com/office/drawing/2014/main" id="{27AA6F76-A834-414A-829E-23AFB14AED5E}"/>
              </a:ext>
            </a:extLst>
          </p:cNvPr>
          <p:cNvSpPr>
            <a:spLocks noGrp="1"/>
          </p:cNvSpPr>
          <p:nvPr/>
        </p:nvSpPr>
        <p:spPr>
          <a:xfrm>
            <a:off x="762000" y="5105400"/>
            <a:ext cx="5238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空动作列表形成丢弃项。</a:t>
            </a:r>
          </a:p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已安装规则可直接处理匹配报文。</a:t>
            </a:r>
          </a:p>
        </p:txBody>
      </p:sp>
      <p:sp>
        <p:nvSpPr>
          <p:cNvPr id="11" name="return阻止后续学习和Packet-Out。&#10;未命中时保留原学习交换逻辑。">
            <a:extLst>
              <a:ext uri="{FF2B5EF4-FFF2-40B4-BE49-F238E27FC236}">
                <a16:creationId xmlns:a16="http://schemas.microsoft.com/office/drawing/2014/main" id="{04EBCEB3-E31E-4D80-9307-577ED152D4F5}"/>
              </a:ext>
            </a:extLst>
          </p:cNvPr>
          <p:cNvSpPr>
            <a:spLocks noGrp="1"/>
          </p:cNvSpPr>
          <p:nvPr/>
        </p:nvSpPr>
        <p:spPr>
          <a:xfrm>
            <a:off x="6286500" y="5724525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return阻止后续学习和Packet-Out。</a:t>
            </a:r>
          </a:p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未命中时保留原学习交换逻辑。</a:t>
            </a:r>
          </a:p>
        </p:txBody>
      </p:sp>
      <p:sp>
        <p:nvSpPr>
          <p:cNvPr id="12" name="buffer_id=0有效；&#10;NO_BUFFER表示没有交换机缓存。">
            <a:extLst>
              <a:ext uri="{FF2B5EF4-FFF2-40B4-BE49-F238E27FC236}">
                <a16:creationId xmlns:a16="http://schemas.microsoft.com/office/drawing/2014/main" id="{A60BCF0C-F4AE-49D8-8565-C8A0EC159CD0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buffer_id=0有效；</a:t>
            </a:r>
          </a:p>
          <a:p>
            <a:pPr algn="l">
              <a:lnSpc>
                <a:spcPct val="108000"/>
              </a:lnSpc>
              <a:buNone/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NO_BUFFER表示没有交换机缓存。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三、代码实现与实验步骤">
            <a:extLst>
              <a:ext uri="{FF2B5EF4-FFF2-40B4-BE49-F238E27FC236}">
                <a16:creationId xmlns:a16="http://schemas.microsoft.com/office/drawing/2014/main" id="{41BBE06D-C780-44FC-BF2F-5856222698DA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三、代码实现与实验步骤</a:t>
            </a:r>
          </a:p>
        </p:txBody>
      </p:sp>
      <p:sp>
        <p:nvSpPr>
          <p:cNvPr id="2" name="步骤3：启动Ryu，确认规则加载与交换机连接">
            <a:extLst>
              <a:ext uri="{FF2B5EF4-FFF2-40B4-BE49-F238E27FC236}">
                <a16:creationId xmlns:a16="http://schemas.microsoft.com/office/drawing/2014/main" id="{02CC1494-6FCC-49CF-949B-BF6D95855FF5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步骤3：启动Ryu，确认规则加载与交换机连接</a:t>
            </a:r>
          </a:p>
        </p:txBody>
      </p:sp>
      <p:sp>
        <p:nvSpPr>
          <p:cNvPr id="3" name="11">
            <a:extLst>
              <a:ext uri="{FF2B5EF4-FFF2-40B4-BE49-F238E27FC236}">
                <a16:creationId xmlns:a16="http://schemas.microsoft.com/office/drawing/2014/main" id="{A0BFBD19-B487-4DFA-8AD7-BFB62306625F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系统：Ubuntu 16.04.5">
            <a:extLst>
              <a:ext uri="{FF2B5EF4-FFF2-40B4-BE49-F238E27FC236}">
                <a16:creationId xmlns:a16="http://schemas.microsoft.com/office/drawing/2014/main" id="{475647CF-E1AB-41B7-AACE-68622E267ED1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系统：Ubuntu 16.04.5</a:t>
            </a:r>
          </a:p>
        </p:txBody>
      </p:sp>
      <p:sp>
        <p:nvSpPr>
          <p:cNvPr id="5" name="运行环境：.venv，Python 2.7.12">
            <a:extLst>
              <a:ext uri="{FF2B5EF4-FFF2-40B4-BE49-F238E27FC236}">
                <a16:creationId xmlns:a16="http://schemas.microsoft.com/office/drawing/2014/main" id="{57F69F7C-A36F-4DE6-B597-C68A773B6A4D}"/>
              </a:ext>
            </a:extLst>
          </p:cNvPr>
          <p:cNvSpPr>
            <a:spLocks noGrp="1"/>
          </p:cNvSpPr>
          <p:nvPr/>
        </p:nvSpPr>
        <p:spPr>
          <a:xfrm>
            <a:off x="4286250" y="17145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运行环境：.venv，Python 2.7.12</a:t>
            </a:r>
          </a:p>
        </p:txBody>
      </p:sp>
      <p:sp>
        <p:nvSpPr>
          <p:cNvPr id="6" name="控制器：Ryu 4.34">
            <a:extLst>
              <a:ext uri="{FF2B5EF4-FFF2-40B4-BE49-F238E27FC236}">
                <a16:creationId xmlns:a16="http://schemas.microsoft.com/office/drawing/2014/main" id="{C20E2F1B-67F7-45A7-B8C4-4EC19A752E96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控制器：Ryu 4.34</a:t>
            </a:r>
          </a:p>
        </p:txBody>
      </p:sp>
      <p:sp>
        <p:nvSpPr>
          <p:cNvPr id="7" name="仿真：Mininet 2.3.0d4">
            <a:extLst>
              <a:ext uri="{FF2B5EF4-FFF2-40B4-BE49-F238E27FC236}">
                <a16:creationId xmlns:a16="http://schemas.microsoft.com/office/drawing/2014/main" id="{8DA7F5CF-3AFC-44FE-889C-B5E785CDBA0E}"/>
              </a:ext>
            </a:extLst>
          </p:cNvPr>
          <p:cNvSpPr>
            <a:spLocks noGrp="1"/>
          </p:cNvSpPr>
          <p:nvPr/>
        </p:nvSpPr>
        <p:spPr>
          <a:xfrm>
            <a:off x="762000" y="2105025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仿真：Mininet 2.3.0d4</a:t>
            </a:r>
          </a:p>
        </p:txBody>
      </p:sp>
      <p:sp>
        <p:nvSpPr>
          <p:cNvPr id="8" name="交换机：Open vSwitch 2.5.5">
            <a:extLst>
              <a:ext uri="{FF2B5EF4-FFF2-40B4-BE49-F238E27FC236}">
                <a16:creationId xmlns:a16="http://schemas.microsoft.com/office/drawing/2014/main" id="{A9FB8DC6-C73E-4665-9224-0C71C866A0DD}"/>
              </a:ext>
            </a:extLst>
          </p:cNvPr>
          <p:cNvSpPr>
            <a:spLocks noGrp="1"/>
          </p:cNvSpPr>
          <p:nvPr/>
        </p:nvSpPr>
        <p:spPr>
          <a:xfrm>
            <a:off x="4286250" y="2105025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交换机：Open vSwitch 2.5.5</a:t>
            </a:r>
          </a:p>
        </p:txBody>
      </p:sp>
      <p:sp>
        <p:nvSpPr>
          <p:cNvPr id="9" name="协议：OpenFlow 1.3">
            <a:extLst>
              <a:ext uri="{FF2B5EF4-FFF2-40B4-BE49-F238E27FC236}">
                <a16:creationId xmlns:a16="http://schemas.microsoft.com/office/drawing/2014/main" id="{99F43CC2-9A19-4F9C-AC6E-C68E280D00D6}"/>
              </a:ext>
            </a:extLst>
          </p:cNvPr>
          <p:cNvSpPr>
            <a:spLocks noGrp="1"/>
          </p:cNvSpPr>
          <p:nvPr/>
        </p:nvSpPr>
        <p:spPr>
          <a:xfrm>
            <a:off x="8667750" y="210502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协议：OpenFlow 1.3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2346EA-49B9-4D4D-8033-752826B264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408" r="26230" b="77933"/>
          <a:stretch/>
        </p:blipFill>
        <p:spPr>
          <a:xfrm>
            <a:off x="762000" y="2571750"/>
            <a:ext cx="8572500" cy="5905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3C848F9-6B60-42C2-9300-46CD6A7D67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855" r="23770" b="51816"/>
          <a:stretch/>
        </p:blipFill>
        <p:spPr>
          <a:xfrm>
            <a:off x="762000" y="3333750"/>
            <a:ext cx="8858250" cy="2952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BBD5E59-A42C-4D14-A37C-BC713FED8C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514" r="3279" b="35056"/>
          <a:stretch/>
        </p:blipFill>
        <p:spPr>
          <a:xfrm>
            <a:off x="285750" y="3714750"/>
            <a:ext cx="11239500" cy="8477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47FEBBA-373E-440B-85D1-8564708FA6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693" r="23770" b="17458"/>
          <a:stretch/>
        </p:blipFill>
        <p:spPr>
          <a:xfrm>
            <a:off x="762000" y="4886325"/>
            <a:ext cx="88582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三、代码实现与实验步骤">
            <a:extLst>
              <a:ext uri="{FF2B5EF4-FFF2-40B4-BE49-F238E27FC236}">
                <a16:creationId xmlns:a16="http://schemas.microsoft.com/office/drawing/2014/main" id="{66E43067-3085-4369-914A-CD60F6CAE46C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三、代码实现与实验步骤</a:t>
            </a:r>
          </a:p>
        </p:txBody>
      </p:sp>
      <p:sp>
        <p:nvSpPr>
          <p:cNvPr id="2" name="步骤4：按空规则、阻断、恢复的顺序做对照">
            <a:extLst>
              <a:ext uri="{FF2B5EF4-FFF2-40B4-BE49-F238E27FC236}">
                <a16:creationId xmlns:a16="http://schemas.microsoft.com/office/drawing/2014/main" id="{8D60AEB9-79A4-40E0-9407-8623D92BBAC0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步骤4：按空规则、阻断、恢复的顺序做对照</a:t>
            </a:r>
          </a:p>
        </p:txBody>
      </p:sp>
      <p:sp>
        <p:nvSpPr>
          <p:cNvPr id="3" name="12">
            <a:extLst>
              <a:ext uri="{FF2B5EF4-FFF2-40B4-BE49-F238E27FC236}">
                <a16:creationId xmlns:a16="http://schemas.microsoft.com/office/drawing/2014/main" id="{84D53B4C-56A0-4C02-BD81-5EA387201522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08BD0E8-E058-49A6-B00C-ECC7B653B5E0}"/>
              </a:ext>
            </a:extLst>
          </p:cNvPr>
          <p:cNvGraphicFramePr/>
          <p:nvPr/>
        </p:nvGraphicFramePr>
        <p:xfrm>
          <a:off x="762000" y="1714500"/>
          <a:ext cx="10668000" cy="2514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启动条件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执行与检查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空规则基线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rules_empty.csv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六个方向分别ping，确认网络本身正常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启用防火墙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rules.csv，两条地址对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重复通信测试，再检查流表与双端PCAP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恢复通信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重新使用rules_empty.csv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重启控制器并重建拓扑，再做六方向测试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主对照条件">
            <a:extLst>
              <a:ext uri="{FF2B5EF4-FFF2-40B4-BE49-F238E27FC236}">
                <a16:creationId xmlns:a16="http://schemas.microsoft.com/office/drawing/2014/main" id="{46F40592-E674-44E2-9C9B-4C6C92B0D15E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主对照条件</a:t>
            </a:r>
          </a:p>
        </p:txBody>
      </p:sp>
      <p:sp>
        <p:nvSpPr>
          <p:cNvPr id="6" name="使用静态ARP，每个方向发送5个ICMP请求；&#10;双端抓包另外发送3个请求，用于比较发送端和接收端。">
            <a:extLst>
              <a:ext uri="{FF2B5EF4-FFF2-40B4-BE49-F238E27FC236}">
                <a16:creationId xmlns:a16="http://schemas.microsoft.com/office/drawing/2014/main" id="{0FB4C9FB-8204-4F95-8110-0D4AEE76FDD1}"/>
              </a:ext>
            </a:extLst>
          </p:cNvPr>
          <p:cNvSpPr>
            <a:spLocks noGrp="1"/>
          </p:cNvSpPr>
          <p:nvPr/>
        </p:nvSpPr>
        <p:spPr>
          <a:xfrm>
            <a:off x="3476625" y="4552950"/>
            <a:ext cx="7953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使用静态ARP，每个方向发送5个ICMP请求；</a:t>
            </a:r>
          </a:p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双端抓包另外发送3个请求，用于比较发送端和接收端。</a:t>
            </a:r>
          </a:p>
        </p:txBody>
      </p:sp>
      <p:sp>
        <p:nvSpPr>
          <p:cNvPr id="7" name="自动执行：sudo .venv/bin/python run_experiment.py">
            <a:extLst>
              <a:ext uri="{FF2B5EF4-FFF2-40B4-BE49-F238E27FC236}">
                <a16:creationId xmlns:a16="http://schemas.microsoft.com/office/drawing/2014/main" id="{87194CF8-4B60-4AD8-80CF-059CC9CDB514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自动执行：sudo .venv/bin/python run_experiment.py</a:t>
            </a:r>
          </a:p>
        </p:txBody>
      </p:sp>
      <p:sp>
        <p:nvSpPr>
          <p:cNvPr id="8" name="阶段②内完成抓包、流表边界与动态ARP检查；代码自检独立执行。">
            <a:extLst>
              <a:ext uri="{FF2B5EF4-FFF2-40B4-BE49-F238E27FC236}">
                <a16:creationId xmlns:a16="http://schemas.microsoft.com/office/drawing/2014/main" id="{857DD7EE-D941-4E89-A1D4-96AC9EF873CD}"/>
              </a:ext>
            </a:extLst>
          </p:cNvPr>
          <p:cNvSpPr>
            <a:spLocks noGrp="1"/>
          </p:cNvSpPr>
          <p:nvPr/>
        </p:nvSpPr>
        <p:spPr>
          <a:xfrm>
            <a:off x="762000" y="583882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阶段②内完成抓包、流表边界与动态ARP检查；代码自检独立执行。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四、实验结果与分析">
            <a:extLst>
              <a:ext uri="{FF2B5EF4-FFF2-40B4-BE49-F238E27FC236}">
                <a16:creationId xmlns:a16="http://schemas.microsoft.com/office/drawing/2014/main" id="{92E5CB2F-73D8-4681-AECC-96E1B69A09D1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四、实验结果与分析</a:t>
            </a:r>
          </a:p>
        </p:txBody>
      </p:sp>
      <p:sp>
        <p:nvSpPr>
          <p:cNvPr id="2" name="通信结果：h1与h2被阻断，其余方向正常">
            <a:extLst>
              <a:ext uri="{FF2B5EF4-FFF2-40B4-BE49-F238E27FC236}">
                <a16:creationId xmlns:a16="http://schemas.microsoft.com/office/drawing/2014/main" id="{00DC2A70-69F4-449E-B477-0ACAE15C87A6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通信结果：h1与h2被阻断，其余方向正常</a:t>
            </a:r>
          </a:p>
        </p:txBody>
      </p:sp>
      <p:sp>
        <p:nvSpPr>
          <p:cNvPr id="3" name="13">
            <a:extLst>
              <a:ext uri="{FF2B5EF4-FFF2-40B4-BE49-F238E27FC236}">
                <a16:creationId xmlns:a16="http://schemas.microsoft.com/office/drawing/2014/main" id="{7BCD4DD8-962B-45B9-8892-E1245669AE1C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2B45B5-D0C7-4FFE-9826-B1A74F496E44}"/>
              </a:ext>
            </a:extLst>
          </p:cNvPr>
          <p:cNvGraphicFramePr/>
          <p:nvPr/>
        </p:nvGraphicFramePr>
        <p:xfrm>
          <a:off x="714375" y="1695450"/>
          <a:ext cx="10763250" cy="233362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空规则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启用阻断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空规则重启后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 → h2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B63B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 → h3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076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h2 → h1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B63B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h2 → h3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076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h3 → h1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076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h3 → h2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076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5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表中为回复数/请求数，静态ARP，每方向5个请求。&#10;下方展示h1→h2的三轮原始统计。恢复时已重启控制器并重建拓扑。">
            <a:extLst>
              <a:ext uri="{FF2B5EF4-FFF2-40B4-BE49-F238E27FC236}">
                <a16:creationId xmlns:a16="http://schemas.microsoft.com/office/drawing/2014/main" id="{8457AF07-CC88-4BA0-B2B3-556FB0971713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表中为回复数/请求数，静态ARP，每方向5个请求。</a:t>
            </a:r>
          </a:p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下方展示h1→h2的三轮原始统计。恢复时已重启控制器并重建拓扑。</a:t>
            </a:r>
          </a:p>
        </p:txBody>
      </p:sp>
      <p:sp>
        <p:nvSpPr>
          <p:cNvPr id="6" name="空规则">
            <a:extLst>
              <a:ext uri="{FF2B5EF4-FFF2-40B4-BE49-F238E27FC236}">
                <a16:creationId xmlns:a16="http://schemas.microsoft.com/office/drawing/2014/main" id="{76DA18C1-B4AE-45B5-A79B-A426DD129EE8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空规则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B6B676-E380-43D1-8355-BFE3CA2E8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514" r="55738" b="43017"/>
          <a:stretch/>
        </p:blipFill>
        <p:spPr>
          <a:xfrm>
            <a:off x="2667000" y="4857750"/>
            <a:ext cx="5143500" cy="304800"/>
          </a:xfrm>
          <a:prstGeom prst="rect">
            <a:avLst/>
          </a:prstGeom>
        </p:spPr>
      </p:pic>
      <p:sp>
        <p:nvSpPr>
          <p:cNvPr id="8" name="启用阻断">
            <a:extLst>
              <a:ext uri="{FF2B5EF4-FFF2-40B4-BE49-F238E27FC236}">
                <a16:creationId xmlns:a16="http://schemas.microsoft.com/office/drawing/2014/main" id="{D902B2EB-C080-46F7-82BB-9E0041320534}"/>
              </a:ext>
            </a:extLst>
          </p:cNvPr>
          <p:cNvSpPr>
            <a:spLocks noGrp="1"/>
          </p:cNvSpPr>
          <p:nvPr/>
        </p:nvSpPr>
        <p:spPr>
          <a:xfrm>
            <a:off x="762000" y="5248275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启用阻断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9A8FEDC-B963-4024-9FFC-5478FFEC7C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726" r="55738" b="64944"/>
          <a:stretch/>
        </p:blipFill>
        <p:spPr>
          <a:xfrm>
            <a:off x="2667000" y="5248275"/>
            <a:ext cx="5309419" cy="304800"/>
          </a:xfrm>
          <a:prstGeom prst="rect">
            <a:avLst/>
          </a:prstGeom>
        </p:spPr>
      </p:pic>
      <p:sp>
        <p:nvSpPr>
          <p:cNvPr id="10" name="空规则重启">
            <a:extLst>
              <a:ext uri="{FF2B5EF4-FFF2-40B4-BE49-F238E27FC236}">
                <a16:creationId xmlns:a16="http://schemas.microsoft.com/office/drawing/2014/main" id="{3F2A09FE-03F4-45C5-9565-3E314CC1FEAF}"/>
              </a:ext>
            </a:extLst>
          </p:cNvPr>
          <p:cNvSpPr>
            <a:spLocks noGrp="1"/>
          </p:cNvSpPr>
          <p:nvPr/>
        </p:nvSpPr>
        <p:spPr>
          <a:xfrm>
            <a:off x="762000" y="56388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空规则重启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81A41E-DB29-473C-A69E-D018A005F3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514" r="55738" b="43017"/>
          <a:stretch/>
        </p:blipFill>
        <p:spPr>
          <a:xfrm>
            <a:off x="2667000" y="5638800"/>
            <a:ext cx="51435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、实验结果与分析">
            <a:extLst>
              <a:ext uri="{FF2B5EF4-FFF2-40B4-BE49-F238E27FC236}">
                <a16:creationId xmlns:a16="http://schemas.microsoft.com/office/drawing/2014/main" id="{197F48C6-2B43-4AA5-A58E-4943C9D256A2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四、实验结果与分析</a:t>
            </a:r>
          </a:p>
        </p:txBody>
      </p:sp>
      <p:sp>
        <p:nvSpPr>
          <p:cNvPr id="2" name="流表验证：两条丢弃项已安装，计数对应测试流量">
            <a:extLst>
              <a:ext uri="{FF2B5EF4-FFF2-40B4-BE49-F238E27FC236}">
                <a16:creationId xmlns:a16="http://schemas.microsoft.com/office/drawing/2014/main" id="{63CC52F5-73D4-44F0-9F41-2BB156804A6C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流表验证：两条丢弃项已安装，计数对应测试流量</a:t>
            </a:r>
          </a:p>
        </p:txBody>
      </p:sp>
      <p:sp>
        <p:nvSpPr>
          <p:cNvPr id="3" name="14">
            <a:extLst>
              <a:ext uri="{FF2B5EF4-FFF2-40B4-BE49-F238E27FC236}">
                <a16:creationId xmlns:a16="http://schemas.microsoft.com/office/drawing/2014/main" id="{1CA36AFC-16C0-4934-804D-A9DE11C29057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" name="两条规则均为priority=100，匹配源/目的MAC，动作是drop。">
            <a:extLst>
              <a:ext uri="{FF2B5EF4-FFF2-40B4-BE49-F238E27FC236}">
                <a16:creationId xmlns:a16="http://schemas.microsoft.com/office/drawing/2014/main" id="{E2323E2D-8544-47C1-86EC-BA37028906DB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两条规则均为priority=100，匹配源/目的MAC，动作是drop。</a:t>
            </a:r>
          </a:p>
        </p:txBody>
      </p:sp>
      <p:sp>
        <p:nvSpPr>
          <p:cNvPr id="5" name="h1 → h2：计数8">
            <a:extLst>
              <a:ext uri="{FF2B5EF4-FFF2-40B4-BE49-F238E27FC236}">
                <a16:creationId xmlns:a16="http://schemas.microsoft.com/office/drawing/2014/main" id="{8BF623A5-89AA-410D-BDF7-381B2621C7D3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h1 → h2：计数8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8F4EE1-E3A8-4E1F-9A11-69A69FCD41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18" t="17877" r="11967" b="77793"/>
          <a:stretch/>
        </p:blipFill>
        <p:spPr>
          <a:xfrm>
            <a:off x="4857750" y="2352675"/>
            <a:ext cx="4344629" cy="3333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3B76A0D-187B-44D8-8BFB-B408381D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57" t="22207" r="11066" b="73464"/>
          <a:stretch/>
        </p:blipFill>
        <p:spPr>
          <a:xfrm>
            <a:off x="762000" y="2847975"/>
            <a:ext cx="10668000" cy="329063"/>
          </a:xfrm>
          <a:prstGeom prst="rect">
            <a:avLst/>
          </a:prstGeom>
        </p:spPr>
      </p:pic>
      <p:sp>
        <p:nvSpPr>
          <p:cNvPr id="8" name="h2 → h1：计数5">
            <a:extLst>
              <a:ext uri="{FF2B5EF4-FFF2-40B4-BE49-F238E27FC236}">
                <a16:creationId xmlns:a16="http://schemas.microsoft.com/office/drawing/2014/main" id="{A9E13383-2F5B-4200-9FC2-862652BDAA9A}"/>
              </a:ext>
            </a:extLst>
          </p:cNvPr>
          <p:cNvSpPr>
            <a:spLocks noGrp="1"/>
          </p:cNvSpPr>
          <p:nvPr/>
        </p:nvSpPr>
        <p:spPr>
          <a:xfrm>
            <a:off x="762000" y="3552825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h2 → h1：计数5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F232D0D-8616-42C0-9FE1-793E0CF035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18" t="26536" r="11967" b="69134"/>
          <a:stretch/>
        </p:blipFill>
        <p:spPr>
          <a:xfrm>
            <a:off x="4857750" y="3562350"/>
            <a:ext cx="4344629" cy="3333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E17F96-96B3-495B-AB6B-92983DA7DB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57" t="30866" r="11066" b="64525"/>
          <a:stretch/>
        </p:blipFill>
        <p:spPr>
          <a:xfrm>
            <a:off x="762000" y="4057650"/>
            <a:ext cx="10152784" cy="333375"/>
          </a:xfrm>
          <a:prstGeom prst="rect">
            <a:avLst/>
          </a:prstGeom>
        </p:spPr>
      </p:pic>
      <p:sp>
        <p:nvSpPr>
          <p:cNvPr id="11" name="h1→h2：5次主测试 + 3次抓包请求 = 8&#10;h2→h1：5次主测试 = 5">
            <a:extLst>
              <a:ext uri="{FF2B5EF4-FFF2-40B4-BE49-F238E27FC236}">
                <a16:creationId xmlns:a16="http://schemas.microsoft.com/office/drawing/2014/main" id="{0818BC83-9EE2-4456-8B04-0FB5F4C71517}"/>
              </a:ext>
            </a:extLst>
          </p:cNvPr>
          <p:cNvSpPr>
            <a:spLocks noGrp="1"/>
          </p:cNvSpPr>
          <p:nvPr/>
        </p:nvSpPr>
        <p:spPr>
          <a:xfrm>
            <a:off x="762000" y="483870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h1→h2：5次主测试 + 3次抓包请求 = 8</a:t>
            </a:r>
          </a:p>
          <a:p>
            <a:pPr algn="l">
              <a:lnSpc>
                <a:spcPct val="108000"/>
              </a:lnSpc>
              <a:buNone/>
              <a:def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h2→h1：5次主测试 = 5</a:t>
            </a:r>
          </a:p>
        </p:txBody>
      </p:sp>
      <p:sp>
        <p:nvSpPr>
          <p:cNvPr id="12" name="取样时点：主测试与抓包结束后，删流表、边界和动态ARP测试之前。">
            <a:extLst>
              <a:ext uri="{FF2B5EF4-FFF2-40B4-BE49-F238E27FC236}">
                <a16:creationId xmlns:a16="http://schemas.microsoft.com/office/drawing/2014/main" id="{09BD1415-5C22-4275-AFEB-ECB68B3A00D9}"/>
              </a:ext>
            </a:extLst>
          </p:cNvPr>
          <p:cNvSpPr>
            <a:spLocks noGrp="1"/>
          </p:cNvSpPr>
          <p:nvPr/>
        </p:nvSpPr>
        <p:spPr>
          <a:xfrm>
            <a:off x="762000" y="583882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取样时点：主测试与抓包结束后，删流表、边界和动态ARP测试之前。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、实验结果与分析">
            <a:extLst>
              <a:ext uri="{FF2B5EF4-FFF2-40B4-BE49-F238E27FC236}">
                <a16:creationId xmlns:a16="http://schemas.microsoft.com/office/drawing/2014/main" id="{DDF95EF4-6667-4BEB-A5D8-31736BF9B9B8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四、实验结果与分析</a:t>
            </a:r>
          </a:p>
        </p:txBody>
      </p:sp>
      <p:sp>
        <p:nvSpPr>
          <p:cNvPr id="2" name="双端抓包：阻断请求没有到达接收端">
            <a:extLst>
              <a:ext uri="{FF2B5EF4-FFF2-40B4-BE49-F238E27FC236}">
                <a16:creationId xmlns:a16="http://schemas.microsoft.com/office/drawing/2014/main" id="{8FB08220-3EE5-4FF6-99D8-8ED32EC98340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双端抓包：阻断请求没有到达接收端</a:t>
            </a:r>
          </a:p>
        </p:txBody>
      </p:sp>
      <p:sp>
        <p:nvSpPr>
          <p:cNvPr id="3" name="15">
            <a:extLst>
              <a:ext uri="{FF2B5EF4-FFF2-40B4-BE49-F238E27FC236}">
                <a16:creationId xmlns:a16="http://schemas.microsoft.com/office/drawing/2014/main" id="{B1899901-4ABF-461A-84A9-510C7A075E7C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B9F751C-2A9E-460D-9318-D158D1116391}"/>
              </a:ext>
            </a:extLst>
          </p:cNvPr>
          <p:cNvGraphicFramePr/>
          <p:nvPr/>
        </p:nvGraphicFramePr>
        <p:xfrm>
          <a:off x="714375" y="1695450"/>
          <a:ext cx="10763250" cy="8001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ICMP请求帧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h1→h2 阻断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h1→h3 放行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发送端 / 接收端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0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3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阻断路径：h1-eth0发送，h2-eth0接收，筛选ICMP请求（类型8）。">
            <a:extLst>
              <a:ext uri="{FF2B5EF4-FFF2-40B4-BE49-F238E27FC236}">
                <a16:creationId xmlns:a16="http://schemas.microsoft.com/office/drawing/2014/main" id="{BB95476F-DD45-422A-9A81-3A3FCEEB9E05}"/>
              </a:ext>
            </a:extLst>
          </p:cNvPr>
          <p:cNvSpPr>
            <a:spLocks noGrp="1"/>
          </p:cNvSpPr>
          <p:nvPr/>
        </p:nvSpPr>
        <p:spPr>
          <a:xfrm>
            <a:off x="762000" y="2628900"/>
            <a:ext cx="10668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阻断路径：h1-eth0发送，h2-eth0接收，筛选ICMP请求（类型8）。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281FB7-B13C-4F71-B5A0-366235B617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34" b="61732"/>
          <a:stretch/>
        </p:blipFill>
        <p:spPr>
          <a:xfrm>
            <a:off x="285750" y="3000375"/>
            <a:ext cx="11210925" cy="13049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BFCF7F5-3BE5-4DE8-8606-C27EB1122C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017" b="52095"/>
          <a:stretch/>
        </p:blipFill>
        <p:spPr>
          <a:xfrm>
            <a:off x="285750" y="4343400"/>
            <a:ext cx="11210925" cy="333375"/>
          </a:xfrm>
          <a:prstGeom prst="rect">
            <a:avLst/>
          </a:prstGeom>
        </p:spPr>
      </p:pic>
      <p:sp>
        <p:nvSpPr>
          <p:cNvPr id="8" name="放行路径：图示第1帧（上TX、下RX），完整抓包两端各3帧。">
            <a:extLst>
              <a:ext uri="{FF2B5EF4-FFF2-40B4-BE49-F238E27FC236}">
                <a16:creationId xmlns:a16="http://schemas.microsoft.com/office/drawing/2014/main" id="{C4B2C6B3-6AE0-4537-8958-BBDD30153035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10668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放行路径：图示第1帧（上TX、下RX），完整抓包两端各3帧。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91F4774-DE10-4A78-80A5-80C8EA84AD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302" b="70950"/>
          <a:stretch/>
        </p:blipFill>
        <p:spPr>
          <a:xfrm>
            <a:off x="285750" y="5191125"/>
            <a:ext cx="11210925" cy="3238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F234A99-EF4A-4B1C-BF9F-776D1FE107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045" b="47207"/>
          <a:stretch/>
        </p:blipFill>
        <p:spPr>
          <a:xfrm>
            <a:off x="285750" y="5610225"/>
            <a:ext cx="112109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、实验结果与分析">
            <a:extLst>
              <a:ext uri="{FF2B5EF4-FFF2-40B4-BE49-F238E27FC236}">
                <a16:creationId xmlns:a16="http://schemas.microsoft.com/office/drawing/2014/main" id="{0DCE4742-6564-4352-9A6A-37B41D194A2B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四、实验结果与分析</a:t>
            </a:r>
          </a:p>
        </p:txBody>
      </p:sp>
      <p:sp>
        <p:nvSpPr>
          <p:cNvPr id="2" name="无匹配转发流时，Packet-In检查会补回丢弃项">
            <a:extLst>
              <a:ext uri="{FF2B5EF4-FFF2-40B4-BE49-F238E27FC236}">
                <a16:creationId xmlns:a16="http://schemas.microsoft.com/office/drawing/2014/main" id="{B5957399-C15A-4098-958E-3FAE19ED7969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无匹配转发流时，Packet-In检查会补回丢弃项</a:t>
            </a:r>
          </a:p>
        </p:txBody>
      </p:sp>
      <p:sp>
        <p:nvSpPr>
          <p:cNvPr id="3" name="16">
            <a:extLst>
              <a:ext uri="{FF2B5EF4-FFF2-40B4-BE49-F238E27FC236}">
                <a16:creationId xmlns:a16="http://schemas.microsoft.com/office/drawing/2014/main" id="{1212734D-DC8F-4647-960C-9ED8ADE70734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验证问题：删掉一条丢弃项后，上送控制器的报文还能否被拦住？">
            <a:extLst>
              <a:ext uri="{FF2B5EF4-FFF2-40B4-BE49-F238E27FC236}">
                <a16:creationId xmlns:a16="http://schemas.microsoft.com/office/drawing/2014/main" id="{0F92104E-411F-47A1-BC9C-C727A01FC727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验证问题：删掉一条丢弃项后，上送控制器的报文还能否被拦住？</a:t>
            </a:r>
          </a:p>
        </p:txBody>
      </p:sp>
      <p:sp>
        <p:nvSpPr>
          <p:cNvPr id="5" name="条件：h1→h2没有匹配的普通转发流，只删除该方向的丢弃项。">
            <a:extLst>
              <a:ext uri="{FF2B5EF4-FFF2-40B4-BE49-F238E27FC236}">
                <a16:creationId xmlns:a16="http://schemas.microsoft.com/office/drawing/2014/main" id="{8B8BE176-DBFC-4B5B-8CE1-10FA7FD94437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10668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条件：h1→h2没有匹配的普通转发流，只删除该方向的丢弃项。</a:t>
            </a:r>
          </a:p>
        </p:txBody>
      </p:sp>
      <p:sp>
        <p:nvSpPr>
          <p:cNvPr id="6" name="操作：再次发送3个请求，同时检查两端抓包、控制器日志和流表。">
            <a:extLst>
              <a:ext uri="{FF2B5EF4-FFF2-40B4-BE49-F238E27FC236}">
                <a16:creationId xmlns:a16="http://schemas.microsoft.com/office/drawing/2014/main" id="{42C56245-738C-4296-A47F-BFC3447E603C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10668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操作：再次发送3个请求，同时检查两端抓包、控制器日志和流表。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594E0DF-4BB0-4490-B26F-743316FBCB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47" r="6557" b="73464"/>
          <a:stretch/>
        </p:blipFill>
        <p:spPr>
          <a:xfrm>
            <a:off x="381000" y="3333750"/>
            <a:ext cx="11092016" cy="9048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29D440-2DB2-484F-9D06-D13469061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514" r="6557" b="38687"/>
          <a:stretch/>
        </p:blipFill>
        <p:spPr>
          <a:xfrm>
            <a:off x="381000" y="4476750"/>
            <a:ext cx="11203214" cy="619125"/>
          </a:xfrm>
          <a:prstGeom prst="rect">
            <a:avLst/>
          </a:prstGeom>
        </p:spPr>
      </p:pic>
      <p:sp>
        <p:nvSpPr>
          <p:cNvPr id="9" name="结果：发送3帧、接收0帧；出现DROP PacketIn，优先级100丢弃项被补回。">
            <a:extLst>
              <a:ext uri="{FF2B5EF4-FFF2-40B4-BE49-F238E27FC236}">
                <a16:creationId xmlns:a16="http://schemas.microsoft.com/office/drawing/2014/main" id="{29E8C623-380A-4F67-89ED-AAAFCA4B5FE9}"/>
              </a:ext>
            </a:extLst>
          </p:cNvPr>
          <p:cNvSpPr>
            <a:spLocks noGrp="1"/>
          </p:cNvSpPr>
          <p:nvPr/>
        </p:nvSpPr>
        <p:spPr>
          <a:xfrm>
            <a:off x="762000" y="54864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结果：发送3帧、接收0帧；出现DROP PacketIn，优先级100丢弃项被补回。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、实验结果与分析">
            <a:extLst>
              <a:ext uri="{FF2B5EF4-FFF2-40B4-BE49-F238E27FC236}">
                <a16:creationId xmlns:a16="http://schemas.microsoft.com/office/drawing/2014/main" id="{91BFE799-66A2-474E-B42B-7C5CDC6C6246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四、实验结果与分析</a:t>
            </a:r>
          </a:p>
        </p:txBody>
      </p:sp>
      <p:sp>
        <p:nvSpPr>
          <p:cNvPr id="2" name="已有转发流时，请求可能到达而ping仍然超时">
            <a:extLst>
              <a:ext uri="{FF2B5EF4-FFF2-40B4-BE49-F238E27FC236}">
                <a16:creationId xmlns:a16="http://schemas.microsoft.com/office/drawing/2014/main" id="{55769CC6-AF47-483B-B161-60E228FBE9D4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已有转发流时，请求可能到达而ping仍然超时</a:t>
            </a:r>
          </a:p>
        </p:txBody>
      </p:sp>
      <p:sp>
        <p:nvSpPr>
          <p:cNvPr id="3" name="17">
            <a:extLst>
              <a:ext uri="{FF2B5EF4-FFF2-40B4-BE49-F238E27FC236}">
                <a16:creationId xmlns:a16="http://schemas.microsoft.com/office/drawing/2014/main" id="{4BE5DFE1-63AE-46E5-980D-8F3E625F2AC6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4" name="边界测试有意注入h1→h2的优先级1转发流，再删除同方向丢弃项。">
            <a:extLst>
              <a:ext uri="{FF2B5EF4-FFF2-40B4-BE49-F238E27FC236}">
                <a16:creationId xmlns:a16="http://schemas.microsoft.com/office/drawing/2014/main" id="{578A7895-C1B2-4A5A-A17A-3F57100E8998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边界测试有意注入h1→h2的优先级1转发流，再删除同方向丢弃项。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19DBEEA-0F0D-4120-9631-D5360CAFD502}"/>
              </a:ext>
            </a:extLst>
          </p:cNvPr>
          <p:cNvGraphicFramePr/>
          <p:nvPr/>
        </p:nvGraphicFramePr>
        <p:xfrm>
          <a:off x="762000" y="2305050"/>
          <a:ext cx="10668000" cy="167005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测试条件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请求TX / RX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ping回复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观察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保留转发流，删除丢弃项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3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3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请求直接转发，</a:t>
                      </a:r>
                    </a:p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不触发Packet-In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保留转发流，恢复丢弃项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0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3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高优先级丢弃项生效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删除丢弃项后">
            <a:extLst>
              <a:ext uri="{FF2B5EF4-FFF2-40B4-BE49-F238E27FC236}">
                <a16:creationId xmlns:a16="http://schemas.microsoft.com/office/drawing/2014/main" id="{15E9DAE5-BC80-4195-922D-A545F6FD6CFB}"/>
              </a:ext>
            </a:extLst>
          </p:cNvPr>
          <p:cNvSpPr>
            <a:spLocks noGrp="1"/>
          </p:cNvSpPr>
          <p:nvPr/>
        </p:nvSpPr>
        <p:spPr>
          <a:xfrm>
            <a:off x="762000" y="412432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删除丢弃项后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84EC8E-D164-446A-87EF-626EF52CB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866" r="40984" b="64944"/>
          <a:stretch/>
        </p:blipFill>
        <p:spPr>
          <a:xfrm>
            <a:off x="3286125" y="4105275"/>
            <a:ext cx="7772400" cy="323850"/>
          </a:xfrm>
          <a:prstGeom prst="rect">
            <a:avLst/>
          </a:prstGeom>
        </p:spPr>
      </p:pic>
      <p:sp>
        <p:nvSpPr>
          <p:cNvPr id="8" name="ping统计">
            <a:extLst>
              <a:ext uri="{FF2B5EF4-FFF2-40B4-BE49-F238E27FC236}">
                <a16:creationId xmlns:a16="http://schemas.microsoft.com/office/drawing/2014/main" id="{EA00398C-323B-48F9-8437-09E89FA13B52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ping统计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560410-B8F1-4673-B0C0-A738F3A5C6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45" r="55738" b="47486"/>
          <a:stretch/>
        </p:blipFill>
        <p:spPr>
          <a:xfrm>
            <a:off x="3286125" y="4552950"/>
            <a:ext cx="5464969" cy="323850"/>
          </a:xfrm>
          <a:prstGeom prst="rect">
            <a:avLst/>
          </a:prstGeom>
        </p:spPr>
      </p:pic>
      <p:sp>
        <p:nvSpPr>
          <p:cNvPr id="10" name="恢复丢弃项后">
            <a:extLst>
              <a:ext uri="{FF2B5EF4-FFF2-40B4-BE49-F238E27FC236}">
                <a16:creationId xmlns:a16="http://schemas.microsoft.com/office/drawing/2014/main" id="{5886DC43-2274-49E3-A361-1E7B4CC51701}"/>
              </a:ext>
            </a:extLst>
          </p:cNvPr>
          <p:cNvSpPr>
            <a:spLocks noGrp="1"/>
          </p:cNvSpPr>
          <p:nvPr/>
        </p:nvSpPr>
        <p:spPr>
          <a:xfrm>
            <a:off x="762000" y="501967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恢复丢弃项后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191FC4C-A9AD-4467-A975-A2927A963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447" r="40164" b="64944"/>
          <a:stretch/>
        </p:blipFill>
        <p:spPr>
          <a:xfrm>
            <a:off x="3286125" y="5000625"/>
            <a:ext cx="7163955" cy="323850"/>
          </a:xfrm>
          <a:prstGeom prst="rect">
            <a:avLst/>
          </a:prstGeom>
        </p:spPr>
      </p:pic>
      <p:sp>
        <p:nvSpPr>
          <p:cNvPr id="12" name="请求到达h2，但反向丢弃项仍在，回复被过滤，因此ping仍然超时[4]。">
            <a:extLst>
              <a:ext uri="{FF2B5EF4-FFF2-40B4-BE49-F238E27FC236}">
                <a16:creationId xmlns:a16="http://schemas.microsoft.com/office/drawing/2014/main" id="{6E4F61F3-FD0E-4B27-AAC5-0D802B23103D}"/>
              </a:ext>
            </a:extLst>
          </p:cNvPr>
          <p:cNvSpPr>
            <a:spLocks noGrp="1"/>
          </p:cNvSpPr>
          <p:nvPr/>
        </p:nvSpPr>
        <p:spPr>
          <a:xfrm>
            <a:off x="762000" y="55530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rPr>
              <a:t>请求到达h2，但反向丢弃项仍在，回复被过滤，因此ping仍然超时</a:t>
            </a:r>
            <a:r>
              <a:rPr sz="2000" b="1" baseline="30000">
                <a:solidFill>
                  <a:srgbClr val="B63B3B"/>
                </a:solidFill>
                <a:latin typeface="微软雅黑"/>
                <a:ea typeface="微软雅黑"/>
                <a:cs typeface="微软雅黑"/>
              </a:rPr>
              <a:t>[4]</a:t>
            </a:r>
            <a:r>
              <a:rPr sz="22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四、实验结果与分析">
            <a:extLst>
              <a:ext uri="{FF2B5EF4-FFF2-40B4-BE49-F238E27FC236}">
                <a16:creationId xmlns:a16="http://schemas.microsoft.com/office/drawing/2014/main" id="{946FDE31-53CD-4DCC-A6CA-769A9872F68C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四、实验结果与分析</a:t>
            </a:r>
          </a:p>
        </p:txBody>
      </p:sp>
      <p:sp>
        <p:nvSpPr>
          <p:cNvPr id="2" name="ARP调试：广播请求到达，单播应答被过滤">
            <a:extLst>
              <a:ext uri="{FF2B5EF4-FFF2-40B4-BE49-F238E27FC236}">
                <a16:creationId xmlns:a16="http://schemas.microsoft.com/office/drawing/2014/main" id="{E4FDC123-D04C-446A-ACC0-DA982F6C9F9F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ARP调试：广播请求到达，单播应答被过滤</a:t>
            </a:r>
          </a:p>
        </p:txBody>
      </p:sp>
      <p:sp>
        <p:nvSpPr>
          <p:cNvPr id="3" name="18">
            <a:extLst>
              <a:ext uri="{FF2B5EF4-FFF2-40B4-BE49-F238E27FC236}">
                <a16:creationId xmlns:a16="http://schemas.microsoft.com/office/drawing/2014/main" id="{E9853661-B34E-4ADA-97F6-46A7FA2B768D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4" name="主对照采用静态ARP。为观察动态解析，先清除邻居项再重新发包。">
            <a:extLst>
              <a:ext uri="{FF2B5EF4-FFF2-40B4-BE49-F238E27FC236}">
                <a16:creationId xmlns:a16="http://schemas.microsoft.com/office/drawing/2014/main" id="{A35CA9D0-192D-4487-AAF6-8D5B1EBE6EA1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主对照采用静态ARP。为观察动态解析，先清除邻居项再重新发包。</a:t>
            </a:r>
          </a:p>
        </p:txBody>
      </p:sp>
      <p:sp>
        <p:nvSpPr>
          <p:cNvPr id="5" name="主机 h1">
            <a:extLst>
              <a:ext uri="{FF2B5EF4-FFF2-40B4-BE49-F238E27FC236}">
                <a16:creationId xmlns:a16="http://schemas.microsoft.com/office/drawing/2014/main" id="{EF0E8E4C-DD99-4FFF-9472-403A264AD92C}"/>
              </a:ext>
            </a:extLst>
          </p:cNvPr>
          <p:cNvSpPr>
            <a:spLocks noGrp="1"/>
          </p:cNvSpPr>
          <p:nvPr/>
        </p:nvSpPr>
        <p:spPr>
          <a:xfrm>
            <a:off x="762000" y="2124075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主机 h1</a:t>
            </a:r>
          </a:p>
        </p:txBody>
      </p:sp>
      <p:sp>
        <p:nvSpPr>
          <p:cNvPr id="6" name="ip neigh flush dev h1-eth0 nud all">
            <a:extLst>
              <a:ext uri="{FF2B5EF4-FFF2-40B4-BE49-F238E27FC236}">
                <a16:creationId xmlns:a16="http://schemas.microsoft.com/office/drawing/2014/main" id="{017EAE93-51D4-4E0E-8D80-6168266D4B08}"/>
              </a:ext>
            </a:extLst>
          </p:cNvPr>
          <p:cNvSpPr>
            <a:spLocks noGrp="1"/>
          </p:cNvSpPr>
          <p:nvPr/>
        </p:nvSpPr>
        <p:spPr>
          <a:xfrm>
            <a:off x="2476500" y="2124075"/>
            <a:ext cx="8953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ip neigh flush dev h1-eth0 nud all</a:t>
            </a:r>
          </a:p>
        </p:txBody>
      </p:sp>
      <p:sp>
        <p:nvSpPr>
          <p:cNvPr id="7" name="主机 h2">
            <a:extLst>
              <a:ext uri="{FF2B5EF4-FFF2-40B4-BE49-F238E27FC236}">
                <a16:creationId xmlns:a16="http://schemas.microsoft.com/office/drawing/2014/main" id="{19052C01-96E1-438C-8216-CAA5390D1C43}"/>
              </a:ext>
            </a:extLst>
          </p:cNvPr>
          <p:cNvSpPr>
            <a:spLocks noGrp="1"/>
          </p:cNvSpPr>
          <p:nvPr/>
        </p:nvSpPr>
        <p:spPr>
          <a:xfrm>
            <a:off x="762000" y="2466975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主机 h2</a:t>
            </a:r>
          </a:p>
        </p:txBody>
      </p:sp>
      <p:sp>
        <p:nvSpPr>
          <p:cNvPr id="8" name="ip neigh flush dev h2-eth0 nud all">
            <a:extLst>
              <a:ext uri="{FF2B5EF4-FFF2-40B4-BE49-F238E27FC236}">
                <a16:creationId xmlns:a16="http://schemas.microsoft.com/office/drawing/2014/main" id="{EEFE76EA-B8CD-4919-ACB8-4CEC7F870E4D}"/>
              </a:ext>
            </a:extLst>
          </p:cNvPr>
          <p:cNvSpPr>
            <a:spLocks noGrp="1"/>
          </p:cNvSpPr>
          <p:nvPr/>
        </p:nvSpPr>
        <p:spPr>
          <a:xfrm>
            <a:off x="2476500" y="2466975"/>
            <a:ext cx="8953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ip neigh flush dev h2-eth0 nud all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2F9E2D-40B2-4639-9946-0623668489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47" r="32787" b="81983"/>
          <a:stretch/>
        </p:blipFill>
        <p:spPr>
          <a:xfrm>
            <a:off x="762000" y="2943225"/>
            <a:ext cx="7810500" cy="304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D6D616F-92DF-4193-8AC6-521CF63854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196" r="26230" b="56285"/>
          <a:stretch/>
        </p:blipFill>
        <p:spPr>
          <a:xfrm>
            <a:off x="762000" y="3314700"/>
            <a:ext cx="8572500" cy="5810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3873AE-0C50-47E9-8118-FEB13E12EB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855" r="32787" b="51955"/>
          <a:stretch/>
        </p:blipFill>
        <p:spPr>
          <a:xfrm>
            <a:off x="762000" y="4048125"/>
            <a:ext cx="7810500" cy="2857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376E1A1-B047-4415-913F-8223BB2FED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503" r="26230" b="16899"/>
          <a:stretch/>
        </p:blipFill>
        <p:spPr>
          <a:xfrm>
            <a:off x="762000" y="4400550"/>
            <a:ext cx="8572500" cy="1200150"/>
          </a:xfrm>
          <a:prstGeom prst="rect">
            <a:avLst/>
          </a:prstGeom>
        </p:spPr>
      </p:pic>
      <p:sp>
        <p:nvSpPr>
          <p:cNvPr id="13" name="广播目的地址不匹配这两条规则；h2→h1的单播ARP应答命中反向规则。">
            <a:extLst>
              <a:ext uri="{FF2B5EF4-FFF2-40B4-BE49-F238E27FC236}">
                <a16:creationId xmlns:a16="http://schemas.microsoft.com/office/drawing/2014/main" id="{D98AE25E-6BEF-4DA6-A84A-03496D9A4E0E}"/>
              </a:ext>
            </a:extLst>
          </p:cNvPr>
          <p:cNvSpPr>
            <a:spLocks noGrp="1"/>
          </p:cNvSpPr>
          <p:nvPr/>
        </p:nvSpPr>
        <p:spPr>
          <a:xfrm>
            <a:off x="762000" y="56673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广播目的地址不匹配这两条规则；h2→h1的单播ARP应答命中反向规则。</a:t>
            </a:r>
          </a:p>
        </p:txBody>
      </p:sp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四、实验结果与分析">
            <a:extLst>
              <a:ext uri="{FF2B5EF4-FFF2-40B4-BE49-F238E27FC236}">
                <a16:creationId xmlns:a16="http://schemas.microsoft.com/office/drawing/2014/main" id="{8C31F203-5BE8-45B8-A231-4338EBF05081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四、实验结果与分析</a:t>
            </a:r>
          </a:p>
        </p:txBody>
      </p:sp>
      <p:sp>
        <p:nvSpPr>
          <p:cNvPr id="2" name="代码自检：合法规则可用，错误配置阻止启动">
            <a:extLst>
              <a:ext uri="{FF2B5EF4-FFF2-40B4-BE49-F238E27FC236}">
                <a16:creationId xmlns:a16="http://schemas.microsoft.com/office/drawing/2014/main" id="{5941E58E-ADBB-468A-BDB1-240EE78D8971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代码自检：合法规则可用，错误配置阻止启动</a:t>
            </a:r>
          </a:p>
        </p:txBody>
      </p:sp>
      <p:sp>
        <p:nvSpPr>
          <p:cNvPr id="3" name="19">
            <a:extLst>
              <a:ext uri="{FF2B5EF4-FFF2-40B4-BE49-F238E27FC236}">
                <a16:creationId xmlns:a16="http://schemas.microsoft.com/office/drawing/2014/main" id="{AD54DCF1-72F6-4673-B25F-2B44328802B7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4" name="为什么检查：避免规则解析或缓冲区处理错误改变过滤行为。">
            <a:extLst>
              <a:ext uri="{FF2B5EF4-FFF2-40B4-BE49-F238E27FC236}">
                <a16:creationId xmlns:a16="http://schemas.microsoft.com/office/drawing/2014/main" id="{34344F3D-F329-4C2B-B2C5-33725801F689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为什么检查：避免规则解析或缓冲区处理错误改变过滤行为。</a:t>
            </a:r>
          </a:p>
        </p:txBody>
      </p:sp>
      <p:sp>
        <p:nvSpPr>
          <p:cNvPr id="5" name="9项测试覆盖方向匹配、规则读取、非法输入与缓冲区分支。">
            <a:extLst>
              <a:ext uri="{FF2B5EF4-FFF2-40B4-BE49-F238E27FC236}">
                <a16:creationId xmlns:a16="http://schemas.microsoft.com/office/drawing/2014/main" id="{0BF909E5-9AAB-480F-9B54-23B38F07A184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9项测试覆盖方向匹配、规则读取、非法输入与缓冲区分支。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9E730F-317C-423A-951E-A6A058659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85" r="53271" b="80866"/>
          <a:stretch/>
        </p:blipFill>
        <p:spPr>
          <a:xfrm>
            <a:off x="762000" y="2781300"/>
            <a:ext cx="5238750" cy="3238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2A4B245-8B7D-4712-9737-03A26C6866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380" r="57519" b="52374"/>
          <a:stretch/>
        </p:blipFill>
        <p:spPr>
          <a:xfrm>
            <a:off x="762000" y="3219450"/>
            <a:ext cx="4762500" cy="971550"/>
          </a:xfrm>
          <a:prstGeom prst="rect">
            <a:avLst/>
          </a:prstGeom>
        </p:spPr>
      </p:pic>
      <p:sp>
        <p:nvSpPr>
          <p:cNvPr id="8" name="解析检查：&#10;BOM、大小写、重复项、空规则、&#10;完整MAC与非法前后缀。&#10;&#10;缓冲区：None、0、NO_BUFFER。">
            <a:extLst>
              <a:ext uri="{FF2B5EF4-FFF2-40B4-BE49-F238E27FC236}">
                <a16:creationId xmlns:a16="http://schemas.microsoft.com/office/drawing/2014/main" id="{2BF6F3E5-717B-4DAD-8C06-A51B67836D35}"/>
              </a:ext>
            </a:extLst>
          </p:cNvPr>
          <p:cNvSpPr>
            <a:spLocks noGrp="1"/>
          </p:cNvSpPr>
          <p:nvPr/>
        </p:nvSpPr>
        <p:spPr>
          <a:xfrm>
            <a:off x="6286500" y="2771775"/>
            <a:ext cx="5143500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解析检查：</a:t>
            </a:r>
          </a:p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BOM、大小写、重复项、空规则、</a:t>
            </a:r>
          </a:p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完整MAC与非法前后缀。</a:t>
            </a:r>
          </a:p>
          <a:p>
            <a:endParaRPr sz="2000" b="0">
              <a:solidFill>
                <a:srgbClr val="1F2A37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buNone/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缓冲区：None、0、NO_BUFFER。</a:t>
            </a:r>
          </a:p>
        </p:txBody>
      </p:sp>
      <p:sp>
        <p:nvSpPr>
          <p:cNvPr id="9" name="非法CSV实际启动：第2行触发ValueError，进程以状态1退出。">
            <a:extLst>
              <a:ext uri="{FF2B5EF4-FFF2-40B4-BE49-F238E27FC236}">
                <a16:creationId xmlns:a16="http://schemas.microsoft.com/office/drawing/2014/main" id="{19CAB079-7446-4A94-9C43-B19ED021BEFE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0668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63B3B"/>
                </a:solidFill>
                <a:latin typeface="微软雅黑"/>
                <a:ea typeface="微软雅黑"/>
                <a:cs typeface="微软雅黑"/>
              </a:rPr>
              <a:t>非法CSV实际启动：第2行触发ValueError，进程以状态1退出。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988E821-676A-4050-B197-436B5523B9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85" r="11640" b="75559"/>
          <a:stretch/>
        </p:blipFill>
        <p:spPr>
          <a:xfrm>
            <a:off x="714375" y="4876800"/>
            <a:ext cx="9906000" cy="685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9971619-F7BC-4903-937C-837D46C52A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207" r="30331" b="43156"/>
          <a:stretch/>
        </p:blipFill>
        <p:spPr>
          <a:xfrm>
            <a:off x="714375" y="5657850"/>
            <a:ext cx="78105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22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、实验结果与分析">
            <a:extLst>
              <a:ext uri="{FF2B5EF4-FFF2-40B4-BE49-F238E27FC236}">
                <a16:creationId xmlns:a16="http://schemas.microsoft.com/office/drawing/2014/main" id="{B88CBF04-CF8A-4BE7-8312-A5AF2A5E2F5A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四、实验结果与分析</a:t>
            </a:r>
          </a:p>
        </p:txBody>
      </p:sp>
      <p:sp>
        <p:nvSpPr>
          <p:cNvPr id="2" name="实验结论：指定通信被过滤，处理路径得到验证">
            <a:extLst>
              <a:ext uri="{FF2B5EF4-FFF2-40B4-BE49-F238E27FC236}">
                <a16:creationId xmlns:a16="http://schemas.microsoft.com/office/drawing/2014/main" id="{A322FEE7-AC0A-434B-B280-20E267152BB0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实验结论：指定通信被过滤，处理路径得到验证</a:t>
            </a:r>
          </a:p>
        </p:txBody>
      </p:sp>
      <p:sp>
        <p:nvSpPr>
          <p:cNvPr id="3" name="20">
            <a:extLst>
              <a:ext uri="{FF2B5EF4-FFF2-40B4-BE49-F238E27FC236}">
                <a16:creationId xmlns:a16="http://schemas.microsoft.com/office/drawing/2014/main" id="{E496B6B7-F5A0-4DBC-B967-40B6A402D003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4" name="目标已实现">
            <a:extLst>
              <a:ext uri="{FF2B5EF4-FFF2-40B4-BE49-F238E27FC236}">
                <a16:creationId xmlns:a16="http://schemas.microsoft.com/office/drawing/2014/main" id="{CFA9EBE1-A3F8-4E4A-91F5-309DADA8F908}"/>
              </a:ext>
            </a:extLst>
          </p:cNvPr>
          <p:cNvSpPr>
            <a:spLocks noGrp="1"/>
          </p:cNvSpPr>
          <p:nvPr/>
        </p:nvSpPr>
        <p:spPr>
          <a:xfrm>
            <a:off x="762000" y="1704975"/>
            <a:ext cx="2667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目标已实现</a:t>
            </a:r>
          </a:p>
        </p:txBody>
      </p:sp>
      <p:sp>
        <p:nvSpPr>
          <p:cNvPr id="5" name="启用两条规则后，h1与h2双向均为0/5；&#10;其余四个方向保持5/5，空规则重新初始化后全部恢复。">
            <a:extLst>
              <a:ext uri="{FF2B5EF4-FFF2-40B4-BE49-F238E27FC236}">
                <a16:creationId xmlns:a16="http://schemas.microsoft.com/office/drawing/2014/main" id="{634454B8-2E46-4407-805C-2EE58CE94BB8}"/>
              </a:ext>
            </a:extLst>
          </p:cNvPr>
          <p:cNvSpPr>
            <a:spLocks noGrp="1"/>
          </p:cNvSpPr>
          <p:nvPr/>
        </p:nvSpPr>
        <p:spPr>
          <a:xfrm>
            <a:off x="3524250" y="1704975"/>
            <a:ext cx="7905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启用两条规则后，h1与h2双向均为0/5；</a:t>
            </a:r>
          </a:p>
          <a:p>
            <a:pPr algn="l">
              <a:lnSpc>
                <a:spcPct val="108000"/>
              </a:lnSpc>
              <a:buNone/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其余四个方向保持5/5，空规则重新初始化后全部恢复。</a:t>
            </a:r>
          </a:p>
        </p:txBody>
      </p:sp>
      <p:sp>
        <p:nvSpPr>
          <p:cNvPr id="6" name="过滤机制得到验证">
            <a:extLst>
              <a:ext uri="{FF2B5EF4-FFF2-40B4-BE49-F238E27FC236}">
                <a16:creationId xmlns:a16="http://schemas.microsoft.com/office/drawing/2014/main" id="{44B96DFB-F923-4570-8E3B-21483EB54F5B}"/>
              </a:ext>
            </a:extLst>
          </p:cNvPr>
          <p:cNvSpPr>
            <a:spLocks noGrp="1"/>
          </p:cNvSpPr>
          <p:nvPr/>
        </p:nvSpPr>
        <p:spPr>
          <a:xfrm>
            <a:off x="762000" y="2847975"/>
            <a:ext cx="2667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过滤机制得到验证</a:t>
            </a:r>
          </a:p>
        </p:txBody>
      </p:sp>
      <p:sp>
        <p:nvSpPr>
          <p:cNvPr id="7" name="预装丢弃项在交换机直接执行。进入Packet-In的报文&#10;先检查策略，未命中时才学习并正常转发。">
            <a:extLst>
              <a:ext uri="{FF2B5EF4-FFF2-40B4-BE49-F238E27FC236}">
                <a16:creationId xmlns:a16="http://schemas.microsoft.com/office/drawing/2014/main" id="{A881E1EA-0B4E-4B44-A353-E4226D51F326}"/>
              </a:ext>
            </a:extLst>
          </p:cNvPr>
          <p:cNvSpPr>
            <a:spLocks noGrp="1"/>
          </p:cNvSpPr>
          <p:nvPr/>
        </p:nvSpPr>
        <p:spPr>
          <a:xfrm>
            <a:off x="3524250" y="2847975"/>
            <a:ext cx="7905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预装丢弃项在交换机直接执行。进入Packet-In的报文</a:t>
            </a:r>
          </a:p>
          <a:p>
            <a:pPr algn="l">
              <a:lnSpc>
                <a:spcPct val="108000"/>
              </a:lnSpc>
              <a:buNone/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先检查策略，未命中时才学习并正常转发。</a:t>
            </a:r>
          </a:p>
        </p:txBody>
      </p:sp>
      <p:sp>
        <p:nvSpPr>
          <p:cNvPr id="8" name="调试结论更明确">
            <a:extLst>
              <a:ext uri="{FF2B5EF4-FFF2-40B4-BE49-F238E27FC236}">
                <a16:creationId xmlns:a16="http://schemas.microsoft.com/office/drawing/2014/main" id="{76E3957F-797E-4410-83BC-876A1DB65D78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2667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调试结论更明确</a:t>
            </a:r>
          </a:p>
        </p:txBody>
      </p:sp>
      <p:sp>
        <p:nvSpPr>
          <p:cNvPr id="9" name="ping超时不等于请求未到达，需结合双端抓包和流表。&#10;ARP也按以太网地址匹配，要区分广播请求与单播回复。">
            <a:extLst>
              <a:ext uri="{FF2B5EF4-FFF2-40B4-BE49-F238E27FC236}">
                <a16:creationId xmlns:a16="http://schemas.microsoft.com/office/drawing/2014/main" id="{FC48363C-5804-42F0-8EFA-07B1BC7EB980}"/>
              </a:ext>
            </a:extLst>
          </p:cNvPr>
          <p:cNvSpPr>
            <a:spLocks noGrp="1"/>
          </p:cNvSpPr>
          <p:nvPr/>
        </p:nvSpPr>
        <p:spPr>
          <a:xfrm>
            <a:off x="3524250" y="4000500"/>
            <a:ext cx="7905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ping超时不等于请求未到达，需结合双端抓包和流表。</a:t>
            </a:r>
          </a:p>
          <a:p>
            <a:pPr algn="l">
              <a:lnSpc>
                <a:spcPct val="108000"/>
              </a:lnSpc>
              <a:buNone/>
              <a:def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ARP也按以太网地址匹配，要区分广播请求与单播回复。</a:t>
            </a:r>
          </a:p>
        </p:txBody>
      </p:sp>
      <p:sp>
        <p:nvSpPr>
          <p:cNvPr id="10" name="本组件启动时读取CSV，完成三主机单交换机环境中的二层过滤。&#10;修改规则后需重新启动；MAC地址过滤不能替代主机身份认证。">
            <a:extLst>
              <a:ext uri="{FF2B5EF4-FFF2-40B4-BE49-F238E27FC236}">
                <a16:creationId xmlns:a16="http://schemas.microsoft.com/office/drawing/2014/main" id="{0EEC40DA-6A48-4E0C-8CF3-4C05BB68D694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06680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本组件启动时读取CSV，完成三主机单交换机环境中的二层过滤。</a:t>
            </a:r>
          </a:p>
          <a:p>
            <a:pPr algn="l">
              <a:lnSpc>
                <a:spcPct val="108000"/>
              </a:lnSpc>
              <a:buNone/>
              <a:def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修改规则后需重新启动；MAC地址过滤不能替代主机身份认证。</a:t>
            </a:r>
          </a:p>
        </p:txBody>
      </p:sp>
    </p:spTree>
    <p:extLst>
      <p:ext uri="{BB962C8B-B14F-4D97-AF65-F5344CB8AC3E}">
        <p14:creationId xmlns:p14="http://schemas.microsoft.com/office/powerpoint/2010/main" val="112968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附录">
            <a:extLst>
              <a:ext uri="{FF2B5EF4-FFF2-40B4-BE49-F238E27FC236}">
                <a16:creationId xmlns:a16="http://schemas.microsoft.com/office/drawing/2014/main" id="{ECC1B79F-69E1-4B7D-8D51-27E17F9DB91F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2" name="控制器性能评价：指标、方法与本实验的验证范围">
            <a:extLst>
              <a:ext uri="{FF2B5EF4-FFF2-40B4-BE49-F238E27FC236}">
                <a16:creationId xmlns:a16="http://schemas.microsoft.com/office/drawing/2014/main" id="{6A1B51C6-2D8F-458F-BACA-AE13FD47A0DE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控制器性能评价：指标、方法与本实验的验证范围</a:t>
            </a:r>
          </a:p>
        </p:txBody>
      </p:sp>
      <p:sp>
        <p:nvSpPr>
          <p:cNvPr id="3" name="21">
            <a:extLst>
              <a:ext uri="{FF2B5EF4-FFF2-40B4-BE49-F238E27FC236}">
                <a16:creationId xmlns:a16="http://schemas.microsoft.com/office/drawing/2014/main" id="{93BB6765-D286-45AF-9975-78DB711A93DF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B8D0C3D-98A3-4976-98D6-4CB116F61799}"/>
              </a:ext>
            </a:extLst>
          </p:cNvPr>
          <p:cNvGraphicFramePr/>
          <p:nvPr/>
        </p:nvGraphicFramePr>
        <p:xfrm>
          <a:off x="762000" y="1714500"/>
          <a:ext cx="10668000" cy="2905124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62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评价维度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关注内容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常用考察方法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吞吐与时延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事件处理率、响应及尾部时延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增加负载，记录处理率和P95/P99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规模与资源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交换机数、流数量、CPU与内存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固定条件，逐步扩大规模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可靠性与正确性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恢复能力、策略一致性、处理结果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断连重连、异常输入及规则冲突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本次主要验证过滤正确性：通信对照、流表检查、双端抓包和异常输入。">
            <a:extLst>
              <a:ext uri="{FF2B5EF4-FFF2-40B4-BE49-F238E27FC236}">
                <a16:creationId xmlns:a16="http://schemas.microsoft.com/office/drawing/2014/main" id="{C6E766AF-A5DA-4F3F-80A8-D4AE89E03FCE}"/>
              </a:ext>
            </a:extLst>
          </p:cNvPr>
          <p:cNvSpPr>
            <a:spLocks noGrp="1"/>
          </p:cNvSpPr>
          <p:nvPr/>
        </p:nvSpPr>
        <p:spPr>
          <a:xfrm>
            <a:off x="762000" y="49815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本次主要验证过滤正确性：通信对照、流表检查、双端抓包和异常输入。</a:t>
            </a:r>
          </a:p>
        </p:txBody>
      </p:sp>
      <p:sp>
        <p:nvSpPr>
          <p:cNvPr id="6" name="评价框架来自控制器研究[5]；本实验没有进行吞吐与时延性能基准测试。">
            <a:extLst>
              <a:ext uri="{FF2B5EF4-FFF2-40B4-BE49-F238E27FC236}">
                <a16:creationId xmlns:a16="http://schemas.microsoft.com/office/drawing/2014/main" id="{C3C21C99-E4A5-49D0-966D-0368EE16CF75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评价框架来自控制器研究</a:t>
            </a:r>
            <a:r>
              <a:rPr sz="2000" b="0" baseline="3000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[5]</a:t>
            </a: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；本实验没有进行吞吐与时延性能基准测试。</a:t>
            </a:r>
          </a:p>
        </p:txBody>
      </p:sp>
    </p:spTree>
    <p:extLst>
      <p:ext uri="{BB962C8B-B14F-4D97-AF65-F5344CB8AC3E}">
        <p14:creationId xmlns:p14="http://schemas.microsoft.com/office/powerpoint/2010/main" val="772097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附录">
            <a:extLst>
              <a:ext uri="{FF2B5EF4-FFF2-40B4-BE49-F238E27FC236}">
                <a16:creationId xmlns:a16="http://schemas.microsoft.com/office/drawing/2014/main" id="{2994C544-3C48-4158-A691-7C6F1168DFDC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2" name="Ryu与POX：事件组织相近，应用接口与协议支持不同">
            <a:extLst>
              <a:ext uri="{FF2B5EF4-FFF2-40B4-BE49-F238E27FC236}">
                <a16:creationId xmlns:a16="http://schemas.microsoft.com/office/drawing/2014/main" id="{E91AFD5B-73BA-4735-AEA8-AEBD789DCB4B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Ryu与POX：事件组织相近，应用接口与协议支持不同</a:t>
            </a:r>
          </a:p>
        </p:txBody>
      </p:sp>
      <p:sp>
        <p:nvSpPr>
          <p:cNvPr id="3" name="22">
            <a:extLst>
              <a:ext uri="{FF2B5EF4-FFF2-40B4-BE49-F238E27FC236}">
                <a16:creationId xmlns:a16="http://schemas.microsoft.com/office/drawing/2014/main" id="{1207C4BD-EA33-4E5F-AEC7-284B3EFDD9F6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F892337-38A0-4054-A093-05A52D797DE1}"/>
              </a:ext>
            </a:extLst>
          </p:cNvPr>
          <p:cNvGraphicFramePr/>
          <p:nvPr/>
        </p:nvGraphicFramePr>
        <p:xfrm>
          <a:off x="762000" y="1714500"/>
          <a:ext cx="10668000" cy="3352800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比较项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Ryu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POX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44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应用组织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继承RyuApp，注册事件处理器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组件通过launch()组织启动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事件运行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应用事件队列与协作式处理线程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revent事件与recoco协作任务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协议接口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支持多个OpenFlow版本</a:t>
                      </a:r>
                    </a:p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本实验使用1.3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官方主要提供OpenFlow1.0</a:t>
                      </a:r>
                    </a:p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及OVS扩展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组件生态</a:t>
                      </a:r>
                    </a:p>
                  </a:txBody>
                  <a:tcPr marT="9525" marB="9525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报文、拓扑、REST、BGP等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常用于教学和网络原型</a:t>
                      </a:r>
                    </a:p>
                  </a:txBody>
                  <a:tcPr marT="9525" marB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两者均以Python组件和事件组织应用。&#10;本实验采用Ryu，便于复用simple_switch_13及OpenFlow ">
            <a:extLst>
              <a:ext uri="{FF2B5EF4-FFF2-40B4-BE49-F238E27FC236}">
                <a16:creationId xmlns:a16="http://schemas.microsoft.com/office/drawing/2014/main" id="{D47D28BD-74E2-4DFF-91FF-1E3FB90F9331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两者均以Python组件和事件组织应用。</a:t>
            </a:r>
          </a:p>
          <a:p>
            <a:pPr algn="l">
              <a:lnSpc>
                <a:spcPct val="108000"/>
              </a:lnSpc>
              <a:buNone/>
              <a:def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本实验采用Ryu，便于复用simple_switch_13及OpenFlow 1.3接口。</a:t>
            </a:r>
          </a:p>
        </p:txBody>
      </p:sp>
    </p:spTree>
    <p:extLst>
      <p:ext uri="{BB962C8B-B14F-4D97-AF65-F5344CB8AC3E}">
        <p14:creationId xmlns:p14="http://schemas.microsoft.com/office/powerpoint/2010/main" val="869422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附录">
            <a:extLst>
              <a:ext uri="{FF2B5EF4-FFF2-40B4-BE49-F238E27FC236}">
                <a16:creationId xmlns:a16="http://schemas.microsoft.com/office/drawing/2014/main" id="{6329CFBA-E9C5-4383-9660-1DD70E186CE7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2" name="参考文献（1/2）">
            <a:extLst>
              <a:ext uri="{FF2B5EF4-FFF2-40B4-BE49-F238E27FC236}">
                <a16:creationId xmlns:a16="http://schemas.microsoft.com/office/drawing/2014/main" id="{5DA12E64-283E-488E-A02D-53898408FF72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参考文献（1/2）</a:t>
            </a:r>
          </a:p>
        </p:txBody>
      </p:sp>
      <p:sp>
        <p:nvSpPr>
          <p:cNvPr id="3" name="23">
            <a:extLst>
              <a:ext uri="{FF2B5EF4-FFF2-40B4-BE49-F238E27FC236}">
                <a16:creationId xmlns:a16="http://schemas.microsoft.com/office/drawing/2014/main" id="{BCD3F9AE-614B-4E49-832F-D3D6A1703F95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4" name="[1] LANTZ B, HELLER B, MCKEOWN N. A network in a laptop: rap">
            <a:extLst>
              <a:ext uri="{FF2B5EF4-FFF2-40B4-BE49-F238E27FC236}">
                <a16:creationId xmlns:a16="http://schemas.microsoft.com/office/drawing/2014/main" id="{5DC3ECCC-213F-4F44-BFBA-6F6B26DB80C2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[1] LANTZ B, HELLER B, MCKEOWN N. A network in a laptop: rapid prototyping for software-defined networks[C]//Proceedings of the 9th ACM SIGCOMM Workshop on Hot Topics in Networks. New York: ACM, 2010: 1–6.</a:t>
            </a:r>
          </a:p>
        </p:txBody>
      </p:sp>
      <p:sp>
        <p:nvSpPr>
          <p:cNvPr id="5" name="DOI: 10.1145/1868447.1868466">
            <a:extLst>
              <a:ext uri="{FF2B5EF4-FFF2-40B4-BE49-F238E27FC236}">
                <a16:creationId xmlns:a16="http://schemas.microsoft.com/office/drawing/2014/main" id="{B622B118-EF1D-4DA6-9A07-D7A1261508AD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  <a:hlinkClick r:id="rId3"/>
              </a:rPr>
              <a:t>DOI: 10.1145/1868447.1868466</a:t>
            </a:r>
          </a:p>
        </p:txBody>
      </p:sp>
      <p:sp>
        <p:nvSpPr>
          <p:cNvPr id="6" name="[2] KREUTZ D, RAMOS F M V, VERISSIMO P, et al. Software-Defi">
            <a:extLst>
              <a:ext uri="{FF2B5EF4-FFF2-40B4-BE49-F238E27FC236}">
                <a16:creationId xmlns:a16="http://schemas.microsoft.com/office/drawing/2014/main" id="{B5D03C6D-825C-4DB4-8F61-9B026E483E55}"/>
              </a:ext>
            </a:extLst>
          </p:cNvPr>
          <p:cNvSpPr>
            <a:spLocks noGrp="1"/>
          </p:cNvSpPr>
          <p:nvPr/>
        </p:nvSpPr>
        <p:spPr>
          <a:xfrm>
            <a:off x="762000" y="31623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[2] KREUTZ D, RAMOS F M V, VERISSIMO P, et al. Software-Defined Networking: A Comprehensive Survey[J]. Proceedings of the IEEE, 2015, 103(1): 14–76.</a:t>
            </a:r>
          </a:p>
        </p:txBody>
      </p:sp>
      <p:sp>
        <p:nvSpPr>
          <p:cNvPr id="7" name="DOI: 10.1109/JPROC.2014.2371999">
            <a:extLst>
              <a:ext uri="{FF2B5EF4-FFF2-40B4-BE49-F238E27FC236}">
                <a16:creationId xmlns:a16="http://schemas.microsoft.com/office/drawing/2014/main" id="{BD03C0A9-C56A-4420-8030-2AC125B25856}"/>
              </a:ext>
            </a:extLst>
          </p:cNvPr>
          <p:cNvSpPr>
            <a:spLocks noGrp="1"/>
          </p:cNvSpPr>
          <p:nvPr/>
        </p:nvSpPr>
        <p:spPr>
          <a:xfrm>
            <a:off x="762000" y="382905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  <a:hlinkClick r:id="rId4"/>
              </a:rPr>
              <a:t>DOI: 10.1109/JPROC.2014.2371999</a:t>
            </a:r>
          </a:p>
        </p:txBody>
      </p:sp>
      <p:sp>
        <p:nvSpPr>
          <p:cNvPr id="8" name="[3] MCKEOWN N, ANDERSON T, BALAKRISHNAN H, et al. OpenFlow: ">
            <a:extLst>
              <a:ext uri="{FF2B5EF4-FFF2-40B4-BE49-F238E27FC236}">
                <a16:creationId xmlns:a16="http://schemas.microsoft.com/office/drawing/2014/main" id="{EF192E13-069C-4BD3-997F-DA135FA49A67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[3] MCKEOWN N, ANDERSON T, BALAKRISHNAN H, et al. OpenFlow: enabling innovation in campus networks[J]. ACM SIGCOMM Computer Communication Review, 2008, 38(2): 69–74.</a:t>
            </a:r>
          </a:p>
        </p:txBody>
      </p:sp>
      <p:sp>
        <p:nvSpPr>
          <p:cNvPr id="9" name="DOI: 10.1145/1355734.1355746">
            <a:extLst>
              <a:ext uri="{FF2B5EF4-FFF2-40B4-BE49-F238E27FC236}">
                <a16:creationId xmlns:a16="http://schemas.microsoft.com/office/drawing/2014/main" id="{05E9E542-91BF-44A4-B7B3-574AE40A6032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  <a:hlinkClick r:id="rId5"/>
              </a:rPr>
              <a:t>DOI: 10.1145/1355734.1355746</a:t>
            </a:r>
          </a:p>
        </p:txBody>
      </p:sp>
    </p:spTree>
    <p:extLst>
      <p:ext uri="{BB962C8B-B14F-4D97-AF65-F5344CB8AC3E}">
        <p14:creationId xmlns:p14="http://schemas.microsoft.com/office/powerpoint/2010/main" val="206982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附录">
            <a:extLst>
              <a:ext uri="{FF2B5EF4-FFF2-40B4-BE49-F238E27FC236}">
                <a16:creationId xmlns:a16="http://schemas.microsoft.com/office/drawing/2014/main" id="{9A573FC1-1E93-4F70-82BF-0D2023C156F0}"/>
              </a:ext>
            </a:extLst>
          </p:cNvPr>
          <p:cNvSpPr>
            <a:spLocks noGrp="1"/>
          </p:cNvSpPr>
          <p:nvPr/>
        </p:nvSpPr>
        <p:spPr>
          <a:xfrm>
            <a:off x="742950" y="32385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2" name="参考文献（2/2）">
            <a:extLst>
              <a:ext uri="{FF2B5EF4-FFF2-40B4-BE49-F238E27FC236}">
                <a16:creationId xmlns:a16="http://schemas.microsoft.com/office/drawing/2014/main" id="{05D2C8AA-3BC8-4612-9909-6351E15C428E}"/>
              </a:ext>
            </a:extLst>
          </p:cNvPr>
          <p:cNvSpPr>
            <a:spLocks noGrp="1"/>
          </p:cNvSpPr>
          <p:nvPr/>
        </p:nvSpPr>
        <p:spPr>
          <a:xfrm>
            <a:off x="762000" y="9810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44B89"/>
                </a:solidFill>
                <a:latin typeface="微软雅黑"/>
                <a:ea typeface="微软雅黑"/>
                <a:cs typeface="微软雅黑"/>
              </a:rPr>
              <a:t>参考文献（2/2）</a:t>
            </a:r>
          </a:p>
        </p:txBody>
      </p:sp>
      <p:sp>
        <p:nvSpPr>
          <p:cNvPr id="3" name="24">
            <a:extLst>
              <a:ext uri="{FF2B5EF4-FFF2-40B4-BE49-F238E27FC236}">
                <a16:creationId xmlns:a16="http://schemas.microsoft.com/office/drawing/2014/main" id="{9FD23E67-FA16-4FAD-870F-3AF14D832607}"/>
              </a:ext>
            </a:extLst>
          </p:cNvPr>
          <p:cNvSpPr>
            <a:spLocks noGrp="1"/>
          </p:cNvSpPr>
          <p:nvPr/>
        </p:nvSpPr>
        <p:spPr>
          <a:xfrm>
            <a:off x="11239500" y="64293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08000"/>
              </a:lnSpc>
              <a:buNone/>
              <a:def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4" name="[4] HU H, HAN W, AHN G J, et al. FLOWGUARD: building robust ">
            <a:extLst>
              <a:ext uri="{FF2B5EF4-FFF2-40B4-BE49-F238E27FC236}">
                <a16:creationId xmlns:a16="http://schemas.microsoft.com/office/drawing/2014/main" id="{C73F6CDE-BA88-44B2-9FA2-0CB1BDB00F91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[4] HU H, HAN W, AHN G J, et al. FLOWGUARD: building robust firewalls for software-defined networks[C]//Proceedings of the Third Workshop on Hot Topics in Software Defined Networking. New York: ACM, 2014: 97–102.</a:t>
            </a:r>
          </a:p>
        </p:txBody>
      </p:sp>
      <p:sp>
        <p:nvSpPr>
          <p:cNvPr id="5" name="DOI: 10.1145/2620728.2620749">
            <a:extLst>
              <a:ext uri="{FF2B5EF4-FFF2-40B4-BE49-F238E27FC236}">
                <a16:creationId xmlns:a16="http://schemas.microsoft.com/office/drawing/2014/main" id="{14DB0AC8-E8B4-44AD-BA98-3A20A2736D13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  <a:hlinkClick r:id="rId3"/>
              </a:rPr>
              <a:t>DOI: 10.1145/2620728.2620749</a:t>
            </a:r>
          </a:p>
        </p:txBody>
      </p:sp>
      <p:sp>
        <p:nvSpPr>
          <p:cNvPr id="6" name="[5] SHALIMOV A, ZUIKOV D, ZIMARINA D, et al. Advanced study ">
            <a:extLst>
              <a:ext uri="{FF2B5EF4-FFF2-40B4-BE49-F238E27FC236}">
                <a16:creationId xmlns:a16="http://schemas.microsoft.com/office/drawing/2014/main" id="{876990F9-088E-46BB-8726-89F522F3814D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[5] SHALIMOV A, ZUIKOV D, ZIMARINA D, et al. Advanced study of SDN/OpenFlow controllers[C]//Proceedings of the 9th Central &amp; Eastern European Software Engineering Conference in Russia. New York: ACM, 2013: 1–6.</a:t>
            </a:r>
          </a:p>
        </p:txBody>
      </p:sp>
      <p:sp>
        <p:nvSpPr>
          <p:cNvPr id="7" name="DOI: 10.1145/2556610.2556621">
            <a:extLst>
              <a:ext uri="{FF2B5EF4-FFF2-40B4-BE49-F238E27FC236}">
                <a16:creationId xmlns:a16="http://schemas.microsoft.com/office/drawing/2014/main" id="{C565AB60-6E68-4411-87F8-E6CAE01CD71D}"/>
              </a:ext>
            </a:extLst>
          </p:cNvPr>
          <p:cNvSpPr>
            <a:spLocks noGrp="1"/>
          </p:cNvSpPr>
          <p:nvPr/>
        </p:nvSpPr>
        <p:spPr>
          <a:xfrm>
            <a:off x="762000" y="41529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00" b="0">
                <a:solidFill>
                  <a:srgbClr val="044B8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44B89"/>
                </a:solidFill>
                <a:latin typeface="微软雅黑"/>
                <a:ea typeface="微软雅黑"/>
                <a:cs typeface="微软雅黑"/>
                <a:hlinkClick r:id="rId4"/>
              </a:rPr>
              <a:t>DOI: 10.1145/2556610.2556621</a:t>
            </a:r>
          </a:p>
        </p:txBody>
      </p:sp>
    </p:spTree>
    <p:extLst>
      <p:ext uri="{BB962C8B-B14F-4D97-AF65-F5344CB8AC3E}">
        <p14:creationId xmlns:p14="http://schemas.microsoft.com/office/powerpoint/2010/main" val="1236958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65017" y="188640"/>
            <a:ext cx="7861963" cy="75073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教师评价</a:t>
            </a:r>
          </a:p>
        </p:txBody>
      </p:sp>
      <p:graphicFrame>
        <p:nvGraphicFramePr>
          <p:cNvPr id="3" name="内容占位符 3"/>
          <p:cNvGraphicFramePr>
            <a:graphicFrameLocks noGrp="1"/>
          </p:cNvGraphicFramePr>
          <p:nvPr>
            <p:ph idx="1"/>
          </p:nvPr>
        </p:nvGraphicFramePr>
        <p:xfrm>
          <a:off x="515378" y="939372"/>
          <a:ext cx="11161240" cy="5396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8136904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6008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评价内容</a:t>
                      </a:r>
                      <a:r>
                        <a:rPr lang="en-US" altLang="zh-CN" sz="24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24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满分</a:t>
                      </a:r>
                      <a:r>
                        <a:rPr lang="en-US" altLang="zh-CN" sz="2400" b="1" kern="1200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400" b="1" dirty="0">
                        <a:solidFill>
                          <a:schemeClr val="bg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评价依据</a:t>
                      </a:r>
                    </a:p>
                  </a:txBody>
                  <a:tcPr marL="68580" marR="68580" marT="45715" marB="457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</a:rPr>
                        <a:t>得分</a:t>
                      </a:r>
                    </a:p>
                  </a:txBody>
                  <a:tcPr marL="68580" marR="68580" marT="45715" marB="45715" anchor="ctr"/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1061246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对研讨主题的理解与响应（30分）</a:t>
                      </a:r>
                      <a:endParaRPr lang="zh-CN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 u="none">
                          <a:solidFill>
                            <a:srgbClr val="1F2A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能通过对研讨主题的准确理解、子问题的恰当切分或关键问题的梳理，建立脉络清晰的研讨框架，对所研讨主题进行全面回应；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1138392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对研讨主题的思考、分析与表达（50分）</a:t>
                      </a:r>
                      <a:endParaRPr lang="zh-CN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 u="none">
                          <a:solidFill>
                            <a:srgbClr val="1F2A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能在研讨框架下，就相关子问题或关键问题进行有内涵、有质量的分析与表达，包括明确的问题点或论点、翔实的论据或相关回应、简明扼要的表达；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9138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参考文献的查阅与利用（10分）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400" b="0" i="0" u="none">
                          <a:solidFill>
                            <a:srgbClr val="1F2A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能根据研讨主题和研讨框架，进行有针对性的文献查阅与利用，包括参考文献的关联度、质量及其利用的有效性；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PPT制作的质量（10分）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0" i="0" u="none">
                          <a:solidFill>
                            <a:srgbClr val="1F2A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能根据研讨框架和相关主题的表达需要，进行高质量PPT设计与制作，版面简明、美观和具有表现力，图表文与动画合理搭配，页数合理。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 i="0" u="none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备注/合计得分</a:t>
                      </a:r>
                      <a:endParaRPr lang="zh-CN" alt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54864" marR="54864" marT="18288" marB="18288" anchor="ctr"/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54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1699</Words>
  <Application>Microsoft Office PowerPoint</Application>
  <DocSecurity>0</DocSecurity>
  <PresentationFormat>宽屏</PresentationFormat>
  <Paragraphs>388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微软雅黑</vt:lpstr>
      <vt:lpstr>Arial</vt:lpstr>
      <vt:lpstr>Calibri</vt:lpstr>
      <vt:lpstr>Consolas</vt:lpstr>
      <vt:lpstr>Office Theme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教师评价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id Bocchi</cp:lastModifiedBy>
  <cp:revision>2</cp:revision>
  <dcterms:created xsi:type="dcterms:W3CDTF">2026-10-18T15:33:32Z</dcterms:created>
  <dcterms:modified xsi:type="dcterms:W3CDTF">2026-10-20T15:51:22Z</dcterms:modified>
</cp:coreProperties>
</file>