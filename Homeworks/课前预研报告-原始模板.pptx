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8" r:id="rId3"/>
    <p:sldId id="256" r:id="rId4"/>
    <p:sldId id="259" r:id="rId5"/>
    <p:sldId id="260" r:id="rId6"/>
    <p:sldId id="262" r:id="rId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38" d="100"/>
          <a:sy n="138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F007B1-A6F4-4866-9E66-28C4EB4DAE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A7822-EF87-4B11-9C39-BEFA1C13C98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BE62D-7678-476D-8C06-E3FB4C8980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61978-FC2A-4261-B1FD-BFD9190DA6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标题页必须包含研讨主题、小组号、组员姓名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160035" y="1383618"/>
            <a:ext cx="6860065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4800" spc="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研讨主题</a:t>
            </a:r>
            <a:endParaRPr lang="zh-CN" altLang="en-US" sz="4800" spc="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1698"/>
          <p:cNvSpPr txBox="1"/>
          <p:nvPr/>
        </p:nvSpPr>
        <p:spPr>
          <a:xfrm>
            <a:off x="1115616" y="2895786"/>
            <a:ext cx="72728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 N</a:t>
            </a:r>
            <a:r>
              <a:rPr lang="zh-CN" altLang="en-US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＝１，２，</a:t>
            </a:r>
            <a:r>
              <a:rPr lang="en-US" altLang="zh-CN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… </a:t>
            </a:r>
            <a:r>
              <a:rPr lang="zh-CN" altLang="en-US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600" spc="3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r>
              <a:rPr lang="en-US" altLang="zh-CN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r>
              <a:rPr lang="en-US" altLang="zh-CN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r>
              <a:rPr lang="en-US" altLang="zh-CN" sz="36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3…</a:t>
            </a:r>
            <a:endParaRPr lang="en-US" altLang="zh-CN" sz="3600" spc="3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内容页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关于模板架构的有关说明：</a:t>
            </a:r>
            <a:endParaRPr lang="en-US" altLang="zh-CN" sz="2400" dirty="0"/>
          </a:p>
          <a:p>
            <a:r>
              <a:rPr lang="zh-CN" altLang="en-US" sz="2400" dirty="0"/>
              <a:t>首页为标题页（如上页的说明）</a:t>
            </a:r>
            <a:endParaRPr lang="en-US" altLang="zh-CN" sz="2400" dirty="0"/>
          </a:p>
          <a:p>
            <a:r>
              <a:rPr lang="zh-CN" altLang="en-US" sz="2400" dirty="0"/>
              <a:t>中间为正文内容页，可根据需要自行加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倒数第二页面为参考文献（不可缺失，学生填写）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最后一页为“教师评价”（不可缺失，教师评分）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此为架构模板，非版式模板。在保持该架构的前提下，整个</a:t>
            </a:r>
            <a:r>
              <a:rPr lang="en-US" altLang="zh-CN" sz="2400" dirty="0"/>
              <a:t>PPT</a:t>
            </a:r>
            <a:r>
              <a:rPr lang="zh-CN" altLang="en-US" sz="2400" dirty="0"/>
              <a:t>的版面与美工由学生自行设计。</a:t>
            </a:r>
            <a:endParaRPr lang="en-US" altLang="zh-CN" sz="2400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内容页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200151"/>
            <a:ext cx="8363272" cy="3394472"/>
          </a:xfrm>
        </p:spPr>
        <p:txBody>
          <a:bodyPr/>
          <a:lstStyle/>
          <a:p>
            <a:r>
              <a:rPr lang="zh-CN" altLang="en-US" dirty="0"/>
              <a:t>预研报告</a:t>
            </a:r>
            <a:r>
              <a:rPr lang="en-US" altLang="zh-CN" dirty="0"/>
              <a:t>PPT</a:t>
            </a:r>
            <a:r>
              <a:rPr lang="zh-CN" altLang="en-US" dirty="0"/>
              <a:t>提交时的文件命名，格式如下：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T</a:t>
            </a:r>
            <a:r>
              <a:rPr lang="en-US" altLang="zh-CN" dirty="0"/>
              <a:t>eam X –</a:t>
            </a:r>
            <a:r>
              <a:rPr lang="zh-CN" altLang="en-US" dirty="0"/>
              <a:t>姓名</a:t>
            </a:r>
            <a:r>
              <a:rPr lang="en-US" altLang="zh-CN" dirty="0"/>
              <a:t> 1 </a:t>
            </a:r>
            <a:r>
              <a:rPr lang="zh-CN" altLang="en-US" dirty="0"/>
              <a:t>姓名</a:t>
            </a:r>
            <a:r>
              <a:rPr lang="en-US" altLang="zh-CN" dirty="0"/>
              <a:t>2 </a:t>
            </a:r>
            <a:r>
              <a:rPr lang="zh-CN" altLang="en-US" dirty="0"/>
              <a:t>姓名</a:t>
            </a:r>
            <a:r>
              <a:rPr lang="en-US" altLang="zh-CN" dirty="0"/>
              <a:t>3-</a:t>
            </a:r>
            <a:r>
              <a:rPr lang="zh-CN" altLang="en-US" dirty="0"/>
              <a:t>主题</a:t>
            </a:r>
            <a:endParaRPr lang="en-US" altLang="zh-CN" dirty="0"/>
          </a:p>
          <a:p>
            <a:r>
              <a:rPr lang="zh-CN" altLang="en-US" dirty="0"/>
              <a:t>注：</a:t>
            </a:r>
            <a:r>
              <a:rPr lang="zh-CN" altLang="en-US" dirty="0">
                <a:solidFill>
                  <a:srgbClr val="FF0000"/>
                </a:solidFill>
              </a:rPr>
              <a:t>“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en-US" altLang="zh-CN" dirty="0"/>
              <a:t>eam</a:t>
            </a:r>
            <a:r>
              <a:rPr lang="zh-CN" altLang="en-US" dirty="0"/>
              <a:t>”的首字母须大写，“</a:t>
            </a:r>
            <a:r>
              <a:rPr lang="en-US" altLang="zh-CN" dirty="0"/>
              <a:t>X</a:t>
            </a:r>
            <a:r>
              <a:rPr lang="zh-CN" altLang="en-US" dirty="0"/>
              <a:t>”表示组号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 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列举本预研报告所关联的主要参考文献（</a:t>
            </a:r>
            <a:r>
              <a:rPr lang="zh-CN" altLang="en-US" dirty="0">
                <a:solidFill>
                  <a:srgbClr val="FF0000"/>
                </a:solidFill>
              </a:rPr>
              <a:t>至少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篇英文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参考文献的列举需按照规范进行（</a:t>
            </a:r>
            <a:r>
              <a:rPr lang="zh-CN" altLang="en-US" dirty="0">
                <a:solidFill>
                  <a:srgbClr val="FF0000"/>
                </a:solidFill>
              </a:rPr>
              <a:t>参见提供的规范说明文档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1259632" y="91820"/>
            <a:ext cx="5896472" cy="563049"/>
          </a:xfrm>
        </p:spPr>
        <p:txBody>
          <a:bodyPr>
            <a:normAutofit/>
          </a:bodyPr>
          <a:lstStyle/>
          <a:p>
            <a:r>
              <a:rPr lang="zh-CN" altLang="en-US" sz="2700" b="1" dirty="0">
                <a:solidFill>
                  <a:srgbClr val="FF0000"/>
                </a:solidFill>
              </a:rPr>
              <a:t>教师评价</a:t>
            </a:r>
            <a:endParaRPr lang="zh-CN" altLang="en-US" sz="27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899592" y="771550"/>
          <a:ext cx="7344816" cy="399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4547873"/>
                <a:gridCol w="708711"/>
              </a:tblGrid>
              <a:tr h="448694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评价内容</a:t>
                      </a:r>
                      <a:r>
                        <a:rPr lang="en-US" altLang="zh-CN" sz="1800" b="1" kern="1200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800" b="1" kern="1200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满分</a:t>
                      </a:r>
                      <a:r>
                        <a:rPr lang="en-US" altLang="zh-CN" sz="1800" b="1" kern="1200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800" b="1" dirty="0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51435" marR="51435" marT="34286" marB="342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评价依据</a:t>
                      </a:r>
                      <a:endParaRPr lang="zh-CN" altLang="en-US" sz="1800" b="1" dirty="0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51435" marR="51435" marT="34286" marB="342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得分</a:t>
                      </a:r>
                      <a:endParaRPr lang="zh-CN" altLang="en-US" sz="1800" b="1" dirty="0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51435" marR="51435" marT="34286" marB="34286"/>
                </a:tc>
              </a:tr>
              <a:tr h="77544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7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对</a:t>
                      </a:r>
                      <a:r>
                        <a:rPr lang="zh-CN" sz="17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研讨主题的理解与响应（</a:t>
                      </a:r>
                      <a:r>
                        <a:rPr lang="en-US" sz="17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zh-CN" sz="17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分）</a:t>
                      </a:r>
                      <a:endParaRPr lang="zh-CN" sz="17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通过对</a:t>
                      </a:r>
                      <a:r>
                        <a:rPr lang="zh-CN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研讨主题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的准确理解、子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问题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的恰当切分或关键问题的梳理，建立脉络清晰的研讨框架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对所研讨主题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进行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全面回应；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</a:tr>
              <a:tr h="792088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7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对</a:t>
                      </a:r>
                      <a:r>
                        <a:rPr lang="zh-CN" sz="17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研讨主题的思考、分析与表达（</a:t>
                      </a:r>
                      <a:r>
                        <a:rPr lang="en-US" sz="17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r>
                        <a:rPr lang="zh-CN" sz="17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分）</a:t>
                      </a:r>
                      <a:endParaRPr lang="zh-CN" sz="17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在研讨框架下，就相关子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问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题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或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关键问题进行有内涵、有质量的分析与表达，包括明确的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问题点或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论点、翔实的论据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或相关回应、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简明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扼要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的表达</a:t>
                      </a:r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</a:tr>
              <a:tr h="72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700" b="1" dirty="0">
                          <a:solidFill>
                            <a:schemeClr val="tx1"/>
                          </a:solidFill>
                        </a:rPr>
                        <a:t>参考文献的查阅与利用</a:t>
                      </a:r>
                      <a:r>
                        <a:rPr lang="zh-CN" altLang="zh-CN" sz="17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7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zh-CN" altLang="zh-CN" sz="17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分）</a:t>
                      </a:r>
                      <a:endParaRPr lang="zh-CN" altLang="en-US" sz="17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根据研讨主题和研讨框架，进行有针对性的文献查阅与利用，包括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参考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文献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关联度、质量及其利用的有效性；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</a:tr>
              <a:tr h="779315">
                <a:tc>
                  <a:txBody>
                    <a:bodyPr/>
                    <a:lstStyle/>
                    <a:p>
                      <a:r>
                        <a:rPr lang="en-US" altLang="zh-CN" sz="17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PPT</a:t>
                      </a:r>
                      <a:r>
                        <a:rPr lang="zh-CN" altLang="zh-CN" sz="17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制作的质量（</a:t>
                      </a:r>
                      <a:r>
                        <a:rPr lang="en-US" altLang="zh-CN" sz="17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zh-CN" altLang="zh-CN" sz="17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分）</a:t>
                      </a:r>
                      <a:endParaRPr lang="zh-CN" altLang="en-US" sz="17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能根据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研讨框架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相关主题的表达需要，进行高质量</a:t>
                      </a:r>
                      <a:r>
                        <a:rPr lang="en-US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PPT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设计与制作，版面简明、美观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和具有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表现力</a:t>
                      </a:r>
                      <a:r>
                        <a:rPr lang="zh-CN" altLang="en-US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，图表文与动画合理搭配，</a:t>
                      </a:r>
                      <a:r>
                        <a:rPr lang="zh-CN" altLang="zh-CN" sz="1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页数合理。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</a:tr>
              <a:tr h="448694"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solidFill>
                            <a:schemeClr val="tx1"/>
                          </a:solidFill>
                        </a:rPr>
                        <a:t>备注</a:t>
                      </a:r>
                      <a:r>
                        <a:rPr lang="en-US" altLang="zh-CN" sz="17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700" b="1" dirty="0">
                          <a:solidFill>
                            <a:schemeClr val="tx1"/>
                          </a:solidFill>
                        </a:rPr>
                        <a:t>合计得分</a:t>
                      </a:r>
                      <a:endParaRPr lang="zh-CN" altLang="en-US" sz="17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51435" marR="51435" marT="34286" marB="34286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WPS 演示</Application>
  <PresentationFormat>全屏显示(16:9)</PresentationFormat>
  <Paragraphs>57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Calibri</vt:lpstr>
      <vt:lpstr>Arial Unicode MS</vt:lpstr>
      <vt:lpstr>Office 主题​​</vt:lpstr>
      <vt:lpstr>标题页必须包含研讨主题、小组号、组员姓名</vt:lpstr>
      <vt:lpstr>内容页</vt:lpstr>
      <vt:lpstr>内容页</vt:lpstr>
      <vt:lpstr>参考文献</vt:lpstr>
      <vt:lpstr>教师评价（新）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标题页必须包含研讨主题、小组号、组员姓名</dc:title>
  <dc:creator>Surface</dc:creator>
  <cp:lastModifiedBy>黄辉</cp:lastModifiedBy>
  <cp:revision>15</cp:revision>
  <dcterms:created xsi:type="dcterms:W3CDTF">2020-03-05T13:49:00Z</dcterms:created>
  <dcterms:modified xsi:type="dcterms:W3CDTF">2026-09-17T03:46:35Z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ECE1C15D7E26427496FBA148A04A603E_12</vt:lpwstr>
  </property>
  <property fmtid="{D5CDD505-2E9C-101B-9397-08002B2CF9AE}" pid="3" name="KSOProductBuildVer">
    <vt:lpwstr>2052-12.1.0.28505</vt:lpwstr>
  </property>
</Properties>
</file>